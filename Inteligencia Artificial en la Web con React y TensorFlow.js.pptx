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Liter" panose="020B0604020202020204" charset="0"/>
      <p:regular r:id="rId19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8126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0ebf47f4b8b23af75fa32e9035761df23c67af30.jpg"/>
          <p:cNvPicPr>
            <a:picLocks noChangeAspect="1"/>
          </p:cNvPicPr>
          <p:nvPr/>
        </p:nvPicPr>
        <p:blipFill>
          <a:blip r:embed="rId3">
            <a:alphaModFix amt="6000"/>
          </a:blip>
          <a:srcRect t="7786" b="7786"/>
          <a:stretch/>
        </p:blipFill>
        <p:spPr>
          <a:xfrm>
            <a:off x="-1" y="-32442"/>
            <a:ext cx="12393109" cy="6971124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381000" y="1016317"/>
            <a:ext cx="762000" cy="19050"/>
          </a:xfrm>
          <a:custGeom>
            <a:avLst/>
            <a:gdLst/>
            <a:ahLst/>
            <a:cxnLst/>
            <a:rect l="l" t="t" r="r" b="b"/>
            <a:pathLst>
              <a:path w="762000" h="19050">
                <a:moveTo>
                  <a:pt x="0" y="0"/>
                </a:moveTo>
                <a:lnTo>
                  <a:pt x="762000" y="0"/>
                </a:lnTo>
                <a:lnTo>
                  <a:pt x="762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4" name="Text 1"/>
          <p:cNvSpPr/>
          <p:nvPr/>
        </p:nvSpPr>
        <p:spPr>
          <a:xfrm>
            <a:off x="381000" y="1340167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kern="0" spc="42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INTELIGENCIA ARTIFICIAL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2025967"/>
            <a:ext cx="8915400" cy="2266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5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Inteligencia Artificial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5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 la Web con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5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y TensorFlow.js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4593907"/>
            <a:ext cx="1219200" cy="9525"/>
          </a:xfrm>
          <a:custGeom>
            <a:avLst/>
            <a:gdLst/>
            <a:ahLst/>
            <a:cxnLst/>
            <a:rect l="l" t="t" r="r" b="b"/>
            <a:pathLst>
              <a:path w="1219200" h="9525">
                <a:moveTo>
                  <a:pt x="0" y="0"/>
                </a:moveTo>
                <a:lnTo>
                  <a:pt x="1219200" y="0"/>
                </a:lnTo>
                <a:lnTo>
                  <a:pt x="1219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4908232"/>
            <a:ext cx="67818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Explorando el poder de la IA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directamente en el navegador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467386" y="6286500"/>
            <a:ext cx="409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75785" y="381000"/>
            <a:ext cx="7620" cy="6096000"/>
          </a:xfrm>
          <a:custGeom>
            <a:avLst/>
            <a:gdLst/>
            <a:ahLst/>
            <a:cxnLst/>
            <a:rect l="l" t="t" r="r" b="b"/>
            <a:pathLst>
              <a:path w="7620" h="6096000">
                <a:moveTo>
                  <a:pt x="0" y="0"/>
                </a:moveTo>
                <a:lnTo>
                  <a:pt x="7620" y="0"/>
                </a:lnTo>
                <a:lnTo>
                  <a:pt x="762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30196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512219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4" name="Text 2"/>
          <p:cNvSpPr/>
          <p:nvPr/>
        </p:nvSpPr>
        <p:spPr>
          <a:xfrm>
            <a:off x="381000" y="2912269"/>
            <a:ext cx="38195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Contenido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3788569"/>
            <a:ext cx="36195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 recorrido por la integración de inteligencia artificial en aplicaciones web modernas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991100" y="990600"/>
            <a:ext cx="600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76900" y="1443990"/>
            <a:ext cx="6134100" cy="7620"/>
          </a:xfrm>
          <a:custGeom>
            <a:avLst/>
            <a:gdLst/>
            <a:ahLst/>
            <a:cxnLst/>
            <a:rect l="l" t="t" r="r" b="b"/>
            <a:pathLst>
              <a:path w="6134100" h="7620">
                <a:moveTo>
                  <a:pt x="0" y="0"/>
                </a:moveTo>
                <a:lnTo>
                  <a:pt x="6134100" y="0"/>
                </a:lnTo>
                <a:lnTo>
                  <a:pt x="61341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76900" y="1059180"/>
            <a:ext cx="6229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Introducción: IA en la web moderna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91100" y="1638300"/>
            <a:ext cx="600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76900" y="2091690"/>
            <a:ext cx="6134100" cy="7620"/>
          </a:xfrm>
          <a:custGeom>
            <a:avLst/>
            <a:gdLst/>
            <a:ahLst/>
            <a:cxnLst/>
            <a:rect l="l" t="t" r="r" b="b"/>
            <a:pathLst>
              <a:path w="6134100" h="7620">
                <a:moveTo>
                  <a:pt x="0" y="0"/>
                </a:moveTo>
                <a:lnTo>
                  <a:pt x="6134100" y="0"/>
                </a:lnTo>
                <a:lnTo>
                  <a:pt x="61341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76900" y="1706880"/>
            <a:ext cx="6229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¿Qué es TensorFlow.js?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91100" y="2286000"/>
            <a:ext cx="600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76900" y="2739391"/>
            <a:ext cx="6134100" cy="7620"/>
          </a:xfrm>
          <a:custGeom>
            <a:avLst/>
            <a:gdLst/>
            <a:ahLst/>
            <a:cxnLst/>
            <a:rect l="l" t="t" r="r" b="b"/>
            <a:pathLst>
              <a:path w="6134100" h="7620">
                <a:moveTo>
                  <a:pt x="0" y="0"/>
                </a:moveTo>
                <a:lnTo>
                  <a:pt x="6134100" y="0"/>
                </a:lnTo>
                <a:lnTo>
                  <a:pt x="61341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676900" y="2354581"/>
            <a:ext cx="6229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Integración React + TensorFlow.js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91100" y="2933700"/>
            <a:ext cx="600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76900" y="3387091"/>
            <a:ext cx="6134100" cy="7620"/>
          </a:xfrm>
          <a:custGeom>
            <a:avLst/>
            <a:gdLst/>
            <a:ahLst/>
            <a:cxnLst/>
            <a:rect l="l" t="t" r="r" b="b"/>
            <a:pathLst>
              <a:path w="6134100" h="7620">
                <a:moveTo>
                  <a:pt x="0" y="0"/>
                </a:moveTo>
                <a:lnTo>
                  <a:pt x="6134100" y="0"/>
                </a:lnTo>
                <a:lnTo>
                  <a:pt x="61341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676900" y="3002281"/>
            <a:ext cx="6229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Tipos de modelos de IA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91100" y="3581400"/>
            <a:ext cx="600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76900" y="4034791"/>
            <a:ext cx="6134100" cy="7620"/>
          </a:xfrm>
          <a:custGeom>
            <a:avLst/>
            <a:gdLst/>
            <a:ahLst/>
            <a:cxnLst/>
            <a:rect l="l" t="t" r="r" b="b"/>
            <a:pathLst>
              <a:path w="6134100" h="7620">
                <a:moveTo>
                  <a:pt x="0" y="0"/>
                </a:moveTo>
                <a:lnTo>
                  <a:pt x="6134100" y="0"/>
                </a:lnTo>
                <a:lnTo>
                  <a:pt x="61341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676900" y="3649981"/>
            <a:ext cx="6229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Visualización de resultados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91100" y="4229100"/>
            <a:ext cx="600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76900" y="4682491"/>
            <a:ext cx="6134100" cy="7620"/>
          </a:xfrm>
          <a:custGeom>
            <a:avLst/>
            <a:gdLst/>
            <a:ahLst/>
            <a:cxnLst/>
            <a:rect l="l" t="t" r="r" b="b"/>
            <a:pathLst>
              <a:path w="6134100" h="7620">
                <a:moveTo>
                  <a:pt x="0" y="0"/>
                </a:moveTo>
                <a:lnTo>
                  <a:pt x="6134100" y="0"/>
                </a:lnTo>
                <a:lnTo>
                  <a:pt x="61341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676900" y="4297681"/>
            <a:ext cx="6229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Aplicaciones reales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91100" y="4876800"/>
            <a:ext cx="600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76900" y="5330191"/>
            <a:ext cx="6134100" cy="7620"/>
          </a:xfrm>
          <a:custGeom>
            <a:avLst/>
            <a:gdLst/>
            <a:ahLst/>
            <a:cxnLst/>
            <a:rect l="l" t="t" r="r" b="b"/>
            <a:pathLst>
              <a:path w="6134100" h="7620">
                <a:moveTo>
                  <a:pt x="0" y="0"/>
                </a:moveTo>
                <a:lnTo>
                  <a:pt x="6134100" y="0"/>
                </a:lnTo>
                <a:lnTo>
                  <a:pt x="61341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676900" y="4945381"/>
            <a:ext cx="6229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Ventajas y limitaciones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91100" y="5524500"/>
            <a:ext cx="600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676900" y="5593081"/>
            <a:ext cx="6229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Tendencias, futuro y conclusiones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defe72bbb458c44e17c9f2c5a79a9a08c7c22704.jpeg"/>
          <p:cNvPicPr>
            <a:picLocks noChangeAspect="1"/>
          </p:cNvPicPr>
          <p:nvPr/>
        </p:nvPicPr>
        <p:blipFill>
          <a:blip r:embed="rId3">
            <a:alphaModFix amt="5000"/>
          </a:blip>
          <a:srcRect t="14987" b="14987"/>
          <a:stretch/>
        </p:blipFill>
        <p:spPr>
          <a:xfrm>
            <a:off x="6705600" y="0"/>
            <a:ext cx="54864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381000" y="466725"/>
            <a:ext cx="457200" cy="19050"/>
          </a:xfrm>
          <a:custGeom>
            <a:avLst/>
            <a:gdLst/>
            <a:ahLst/>
            <a:cxnLst/>
            <a:rect l="l" t="t" r="r" b="b"/>
            <a:pathLst>
              <a:path w="457200" h="19050">
                <a:moveTo>
                  <a:pt x="0" y="0"/>
                </a:moveTo>
                <a:lnTo>
                  <a:pt x="457200" y="0"/>
                </a:lnTo>
                <a:lnTo>
                  <a:pt x="4572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4" name="Text 1"/>
          <p:cNvSpPr/>
          <p:nvPr/>
        </p:nvSpPr>
        <p:spPr>
          <a:xfrm>
            <a:off x="990600" y="381000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315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INTRODUCCIÓN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723900"/>
            <a:ext cx="11658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Contexto de la IA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 la Web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171700"/>
            <a:ext cx="5600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Una Transformación Radical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628781"/>
            <a:ext cx="55626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 Inteligencia Artificial se ha convertido en una </a:t>
            </a:r>
            <a:r>
              <a:rPr lang="en-US" sz="1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capa transversal de la web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transformando profundamente cómo se diseñan, desarrollan y utilizan las aplicaciones digitales.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3524131"/>
            <a:ext cx="55626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 que antes eran sitios estáticos ha evolucionado hacia </a:t>
            </a:r>
            <a:r>
              <a:rPr lang="en-US" sz="1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plataformas inteligentes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capaces de aprender del comportamiento del usuario, adaptarse en tiempo real y automatizar procesos complejos.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8620" y="4495681"/>
            <a:ext cx="15240" cy="742950"/>
          </a:xfrm>
          <a:custGeom>
            <a:avLst/>
            <a:gdLst/>
            <a:ahLst/>
            <a:cxnLst/>
            <a:rect l="l" t="t" r="r" b="b"/>
            <a:pathLst>
              <a:path w="15240" h="742950">
                <a:moveTo>
                  <a:pt x="0" y="0"/>
                </a:moveTo>
                <a:lnTo>
                  <a:pt x="15240" y="0"/>
                </a:lnTo>
                <a:lnTo>
                  <a:pt x="15240" y="742950"/>
                </a:lnTo>
                <a:lnTo>
                  <a:pt x="0" y="74295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0" name="Text 7"/>
          <p:cNvSpPr/>
          <p:nvPr/>
        </p:nvSpPr>
        <p:spPr>
          <a:xfrm>
            <a:off x="624840" y="4495681"/>
            <a:ext cx="53149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"La búsqueda tradicional está siendo reemplazada por asistentes conversacionales como ChatGPT y Perplexity, que comprenden contexto e intención del usuario."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324600" y="2171700"/>
            <a:ext cx="5486400" cy="2305050"/>
          </a:xfrm>
          <a:custGeom>
            <a:avLst/>
            <a:gdLst/>
            <a:ahLst/>
            <a:cxnLst/>
            <a:rect l="l" t="t" r="r" b="b"/>
            <a:pathLst>
              <a:path w="5486400" h="2305050">
                <a:moveTo>
                  <a:pt x="0" y="0"/>
                </a:moveTo>
                <a:lnTo>
                  <a:pt x="5486400" y="0"/>
                </a:lnTo>
                <a:lnTo>
                  <a:pt x="5486400" y="2305050"/>
                </a:lnTo>
                <a:lnTo>
                  <a:pt x="0" y="23050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>
              <a:alpha val="5098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553200" y="2400300"/>
            <a:ext cx="512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Democratización del Acceso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553200" y="2819400"/>
            <a:ext cx="5105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 IA está democratizando el acceso mediante: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553200" y="3257550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724531" y="3219450"/>
            <a:ext cx="4933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Tecnologías de accesibilidad avanzadas (voz a texto, descripción automática de imágenes)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53200" y="3829050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724531" y="3790950"/>
            <a:ext cx="4933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Herramientas de creación automática que generan sitios web profesionales en minutos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328410" y="4709160"/>
            <a:ext cx="2655570" cy="1150620"/>
          </a:xfrm>
          <a:custGeom>
            <a:avLst/>
            <a:gdLst/>
            <a:ahLst/>
            <a:cxnLst/>
            <a:rect l="l" t="t" r="r" b="b"/>
            <a:pathLst>
              <a:path w="2655570" h="1150620">
                <a:moveTo>
                  <a:pt x="0" y="0"/>
                </a:moveTo>
                <a:lnTo>
                  <a:pt x="2655570" y="0"/>
                </a:lnTo>
                <a:lnTo>
                  <a:pt x="2655570" y="1150620"/>
                </a:lnTo>
                <a:lnTo>
                  <a:pt x="0" y="11506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C4B7A6">
                <a:alpha val="30196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98895" y="4865370"/>
            <a:ext cx="2514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$200B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51282" y="5322570"/>
            <a:ext cx="2409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Inversión global proyectada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 2025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147810" y="4709160"/>
            <a:ext cx="2655570" cy="1150620"/>
          </a:xfrm>
          <a:custGeom>
            <a:avLst/>
            <a:gdLst/>
            <a:ahLst/>
            <a:cxnLst/>
            <a:rect l="l" t="t" r="r" b="b"/>
            <a:pathLst>
              <a:path w="2655570" h="1150620">
                <a:moveTo>
                  <a:pt x="0" y="0"/>
                </a:moveTo>
                <a:lnTo>
                  <a:pt x="2655570" y="0"/>
                </a:lnTo>
                <a:lnTo>
                  <a:pt x="2655570" y="1150620"/>
                </a:lnTo>
                <a:lnTo>
                  <a:pt x="0" y="11506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C4B7A6">
                <a:alpha val="30196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218295" y="4865370"/>
            <a:ext cx="2514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30-35%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270682" y="5322570"/>
            <a:ext cx="2409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Crecimiento en puestos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especializados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81000" y="6096001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20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381000" y="6252211"/>
            <a:ext cx="611886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 IA ya no es una característica adicional sino una infraestructura base de la web moderna.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66725"/>
            <a:ext cx="457200" cy="19050"/>
          </a:xfrm>
          <a:custGeom>
            <a:avLst/>
            <a:gdLst/>
            <a:ahLst/>
            <a:cxnLst/>
            <a:rect l="l" t="t" r="r" b="b"/>
            <a:pathLst>
              <a:path w="457200" h="19050">
                <a:moveTo>
                  <a:pt x="0" y="0"/>
                </a:moveTo>
                <a:lnTo>
                  <a:pt x="457200" y="0"/>
                </a:lnTo>
                <a:lnTo>
                  <a:pt x="4572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381000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315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TENSORFLOW.JS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23900"/>
            <a:ext cx="65151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¿Qué es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TensorFlow.js?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2247900"/>
            <a:ext cx="640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Definición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2704981"/>
            <a:ext cx="63722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TensorFlow.js</a:t>
            </a: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es la versión de TensorFlow diseñada para </a:t>
            </a: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JavaScript</a:t>
            </a: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, que permite </a:t>
            </a: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definir, entrenar y ejecutar modelos directamente en el navegador o en Node.js</a:t>
            </a: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" y="3414594"/>
            <a:ext cx="63722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 propósito es llevar la inteligencia artificial al </a:t>
            </a: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</a:t>
            </a: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 a entornos JavaScript sin depender de Python.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8620" y="4276606"/>
            <a:ext cx="15240" cy="1828800"/>
          </a:xfrm>
          <a:custGeom>
            <a:avLst/>
            <a:gdLst/>
            <a:ahLst/>
            <a:cxnLst/>
            <a:rect l="l" t="t" r="r" b="b"/>
            <a:pathLst>
              <a:path w="15240" h="1828800">
                <a:moveTo>
                  <a:pt x="0" y="0"/>
                </a:moveTo>
                <a:lnTo>
                  <a:pt x="15240" y="0"/>
                </a:lnTo>
                <a:lnTo>
                  <a:pt x="1524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9" name="Text 7"/>
          <p:cNvSpPr/>
          <p:nvPr/>
        </p:nvSpPr>
        <p:spPr>
          <a:xfrm>
            <a:off x="624840" y="4276606"/>
            <a:ext cx="6134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¿Para qué sirve?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4840" y="4657606"/>
            <a:ext cx="6115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Ejecutar modelos directamente en el navegador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4840" y="4962406"/>
            <a:ext cx="6115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Hacer inferencias en tiempo real (ej. cámara del usuario)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4840" y="5267206"/>
            <a:ext cx="6115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Crear demos interactivas y experiencias web avanzadas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4840" y="5572006"/>
            <a:ext cx="6115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Mejorar la privacidad, ya que los datos no salen del dispositivo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4840" y="5876806"/>
            <a:ext cx="6115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Integrar IA fácilmente en aplicaciones React / web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19950" y="323969"/>
            <a:ext cx="4648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Comparativa: TensorFlow vs TensorFlow.js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80910" y="1165860"/>
            <a:ext cx="4522470" cy="2255520"/>
          </a:xfrm>
          <a:custGeom>
            <a:avLst/>
            <a:gdLst/>
            <a:ahLst/>
            <a:cxnLst/>
            <a:rect l="l" t="t" r="r" b="b"/>
            <a:pathLst>
              <a:path w="4522470" h="2255520">
                <a:moveTo>
                  <a:pt x="0" y="0"/>
                </a:moveTo>
                <a:lnTo>
                  <a:pt x="4522470" y="0"/>
                </a:lnTo>
                <a:lnTo>
                  <a:pt x="4522470" y="2255520"/>
                </a:lnTo>
                <a:lnTo>
                  <a:pt x="0" y="22555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C4B7A6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13320" y="139827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8" name="Shape 16"/>
          <p:cNvSpPr/>
          <p:nvPr/>
        </p:nvSpPr>
        <p:spPr>
          <a:xfrm>
            <a:off x="7637145" y="151257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47625"/>
                </a:lnTo>
                <a:cubicBezTo>
                  <a:pt x="0" y="58132"/>
                  <a:pt x="8543" y="66675"/>
                  <a:pt x="19050" y="66675"/>
                </a:cubicBezTo>
                <a:lnTo>
                  <a:pt x="114300" y="66675"/>
                </a:lnTo>
                <a:cubicBezTo>
                  <a:pt x="124807" y="66675"/>
                  <a:pt x="133350" y="58132"/>
                  <a:pt x="133350" y="476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83344" y="30956"/>
                </a:moveTo>
                <a:cubicBezTo>
                  <a:pt x="87286" y="30956"/>
                  <a:pt x="90488" y="34157"/>
                  <a:pt x="90488" y="38100"/>
                </a:cubicBezTo>
                <a:cubicBezTo>
                  <a:pt x="90488" y="42043"/>
                  <a:pt x="87286" y="45244"/>
                  <a:pt x="83344" y="45244"/>
                </a:cubicBezTo>
                <a:cubicBezTo>
                  <a:pt x="79401" y="45244"/>
                  <a:pt x="76200" y="42043"/>
                  <a:pt x="76200" y="38100"/>
                </a:cubicBezTo>
                <a:cubicBezTo>
                  <a:pt x="76200" y="34157"/>
                  <a:pt x="79401" y="30956"/>
                  <a:pt x="83344" y="30956"/>
                </a:cubicBezTo>
                <a:close/>
                <a:moveTo>
                  <a:pt x="100013" y="38100"/>
                </a:moveTo>
                <a:cubicBezTo>
                  <a:pt x="100013" y="34157"/>
                  <a:pt x="103214" y="30956"/>
                  <a:pt x="107156" y="30956"/>
                </a:cubicBezTo>
                <a:cubicBezTo>
                  <a:pt x="111099" y="30956"/>
                  <a:pt x="114300" y="34157"/>
                  <a:pt x="114300" y="38100"/>
                </a:cubicBezTo>
                <a:cubicBezTo>
                  <a:pt x="114300" y="42043"/>
                  <a:pt x="111099" y="45244"/>
                  <a:pt x="107156" y="45244"/>
                </a:cubicBezTo>
                <a:cubicBezTo>
                  <a:pt x="103214" y="45244"/>
                  <a:pt x="100013" y="42043"/>
                  <a:pt x="100013" y="38100"/>
                </a:cubicBezTo>
                <a:close/>
                <a:moveTo>
                  <a:pt x="19050" y="85725"/>
                </a:moveTo>
                <a:cubicBezTo>
                  <a:pt x="8543" y="85725"/>
                  <a:pt x="0" y="94268"/>
                  <a:pt x="0" y="1047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104775"/>
                </a:lnTo>
                <a:cubicBezTo>
                  <a:pt x="133350" y="94268"/>
                  <a:pt x="124807" y="85725"/>
                  <a:pt x="114300" y="85725"/>
                </a:cubicBezTo>
                <a:lnTo>
                  <a:pt x="19050" y="85725"/>
                </a:lnTo>
                <a:close/>
                <a:moveTo>
                  <a:pt x="83344" y="107156"/>
                </a:moveTo>
                <a:cubicBezTo>
                  <a:pt x="87286" y="107156"/>
                  <a:pt x="90488" y="110357"/>
                  <a:pt x="90488" y="114300"/>
                </a:cubicBezTo>
                <a:cubicBezTo>
                  <a:pt x="90488" y="118243"/>
                  <a:pt x="87286" y="121444"/>
                  <a:pt x="83344" y="121444"/>
                </a:cubicBezTo>
                <a:cubicBezTo>
                  <a:pt x="79401" y="121444"/>
                  <a:pt x="76200" y="118243"/>
                  <a:pt x="76200" y="114300"/>
                </a:cubicBezTo>
                <a:cubicBezTo>
                  <a:pt x="76200" y="110357"/>
                  <a:pt x="79401" y="107156"/>
                  <a:pt x="83344" y="107156"/>
                </a:cubicBezTo>
                <a:close/>
                <a:moveTo>
                  <a:pt x="100013" y="114300"/>
                </a:moveTo>
                <a:cubicBezTo>
                  <a:pt x="100013" y="110357"/>
                  <a:pt x="103214" y="107156"/>
                  <a:pt x="107156" y="107156"/>
                </a:cubicBezTo>
                <a:cubicBezTo>
                  <a:pt x="111099" y="107156"/>
                  <a:pt x="114300" y="110357"/>
                  <a:pt x="114300" y="114300"/>
                </a:cubicBezTo>
                <a:cubicBezTo>
                  <a:pt x="114300" y="118243"/>
                  <a:pt x="111099" y="121444"/>
                  <a:pt x="107156" y="121444"/>
                </a:cubicBezTo>
                <a:cubicBezTo>
                  <a:pt x="103214" y="121444"/>
                  <a:pt x="100013" y="118243"/>
                  <a:pt x="100013" y="114300"/>
                </a:cubicBez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19" name="Text 17"/>
          <p:cNvSpPr/>
          <p:nvPr/>
        </p:nvSpPr>
        <p:spPr>
          <a:xfrm>
            <a:off x="8008620" y="1455420"/>
            <a:ext cx="1866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TensorFlow (Python)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13320" y="1931670"/>
            <a:ext cx="4133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Lenguaje: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Python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513320" y="2274570"/>
            <a:ext cx="4133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Entorno: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Servidor / Cloud / GPU / TPU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13320" y="2617470"/>
            <a:ext cx="4133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Enfoque: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Entrenamiento pesado, producción a escala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13320" y="2960370"/>
            <a:ext cx="4133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Hardware: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CPU, GPU CUDA, TPU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280910" y="3657601"/>
            <a:ext cx="4522470" cy="2255520"/>
          </a:xfrm>
          <a:custGeom>
            <a:avLst/>
            <a:gdLst/>
            <a:ahLst/>
            <a:cxnLst/>
            <a:rect l="l" t="t" r="r" b="b"/>
            <a:pathLst>
              <a:path w="4522470" h="2255520">
                <a:moveTo>
                  <a:pt x="0" y="0"/>
                </a:moveTo>
                <a:lnTo>
                  <a:pt x="4522470" y="0"/>
                </a:lnTo>
                <a:lnTo>
                  <a:pt x="4522470" y="2255520"/>
                </a:lnTo>
                <a:lnTo>
                  <a:pt x="0" y="22555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C4B7A6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13320" y="389001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26" name="Shape 24"/>
          <p:cNvSpPr/>
          <p:nvPr/>
        </p:nvSpPr>
        <p:spPr>
          <a:xfrm>
            <a:off x="7627620" y="400431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4745" y="83344"/>
                </a:moveTo>
                <a:lnTo>
                  <a:pt x="47923" y="83344"/>
                </a:lnTo>
                <a:cubicBezTo>
                  <a:pt x="48786" y="102543"/>
                  <a:pt x="53042" y="120223"/>
                  <a:pt x="59085" y="133171"/>
                </a:cubicBezTo>
                <a:cubicBezTo>
                  <a:pt x="62478" y="140464"/>
                  <a:pt x="66139" y="145613"/>
                  <a:pt x="69533" y="148769"/>
                </a:cubicBezTo>
                <a:cubicBezTo>
                  <a:pt x="72866" y="151894"/>
                  <a:pt x="75158" y="152400"/>
                  <a:pt x="76349" y="152400"/>
                </a:cubicBezTo>
                <a:cubicBezTo>
                  <a:pt x="77539" y="152400"/>
                  <a:pt x="79831" y="151894"/>
                  <a:pt x="83165" y="148769"/>
                </a:cubicBezTo>
                <a:cubicBezTo>
                  <a:pt x="86558" y="145613"/>
                  <a:pt x="90220" y="140434"/>
                  <a:pt x="93613" y="133171"/>
                </a:cubicBezTo>
                <a:cubicBezTo>
                  <a:pt x="99655" y="120223"/>
                  <a:pt x="103912" y="102543"/>
                  <a:pt x="104775" y="83344"/>
                </a:cubicBezTo>
                <a:close/>
                <a:moveTo>
                  <a:pt x="47893" y="69056"/>
                </a:moveTo>
                <a:lnTo>
                  <a:pt x="104715" y="69056"/>
                </a:lnTo>
                <a:cubicBezTo>
                  <a:pt x="103882" y="49857"/>
                  <a:pt x="99626" y="32177"/>
                  <a:pt x="93583" y="19229"/>
                </a:cubicBezTo>
                <a:cubicBezTo>
                  <a:pt x="90190" y="11966"/>
                  <a:pt x="86529" y="6787"/>
                  <a:pt x="83135" y="3631"/>
                </a:cubicBezTo>
                <a:cubicBezTo>
                  <a:pt x="79802" y="506"/>
                  <a:pt x="77510" y="0"/>
                  <a:pt x="76319" y="0"/>
                </a:cubicBezTo>
                <a:cubicBezTo>
                  <a:pt x="75128" y="0"/>
                  <a:pt x="72836" y="506"/>
                  <a:pt x="69503" y="3631"/>
                </a:cubicBezTo>
                <a:cubicBezTo>
                  <a:pt x="66109" y="6787"/>
                  <a:pt x="62448" y="11966"/>
                  <a:pt x="59055" y="19229"/>
                </a:cubicBezTo>
                <a:cubicBezTo>
                  <a:pt x="53013" y="32177"/>
                  <a:pt x="48756" y="49857"/>
                  <a:pt x="47893" y="69056"/>
                </a:cubicBezTo>
                <a:close/>
                <a:moveTo>
                  <a:pt x="33605" y="69056"/>
                </a:moveTo>
                <a:cubicBezTo>
                  <a:pt x="34647" y="43577"/>
                  <a:pt x="41225" y="19913"/>
                  <a:pt x="50840" y="4376"/>
                </a:cubicBezTo>
                <a:cubicBezTo>
                  <a:pt x="23426" y="14079"/>
                  <a:pt x="3244" y="39052"/>
                  <a:pt x="446" y="69056"/>
                </a:cubicBezTo>
                <a:lnTo>
                  <a:pt x="33605" y="69056"/>
                </a:lnTo>
                <a:close/>
                <a:moveTo>
                  <a:pt x="446" y="83344"/>
                </a:moveTo>
                <a:cubicBezTo>
                  <a:pt x="3244" y="113348"/>
                  <a:pt x="23426" y="138321"/>
                  <a:pt x="50840" y="148024"/>
                </a:cubicBezTo>
                <a:cubicBezTo>
                  <a:pt x="41225" y="132487"/>
                  <a:pt x="34647" y="108823"/>
                  <a:pt x="33605" y="83344"/>
                </a:cubicBezTo>
                <a:lnTo>
                  <a:pt x="446" y="83344"/>
                </a:lnTo>
                <a:close/>
                <a:moveTo>
                  <a:pt x="119033" y="83344"/>
                </a:moveTo>
                <a:cubicBezTo>
                  <a:pt x="117991" y="108823"/>
                  <a:pt x="111413" y="132487"/>
                  <a:pt x="101798" y="148024"/>
                </a:cubicBezTo>
                <a:cubicBezTo>
                  <a:pt x="129213" y="138291"/>
                  <a:pt x="149394" y="113348"/>
                  <a:pt x="152192" y="83344"/>
                </a:cubicBezTo>
                <a:lnTo>
                  <a:pt x="119033" y="83344"/>
                </a:lnTo>
                <a:close/>
                <a:moveTo>
                  <a:pt x="152192" y="69056"/>
                </a:moveTo>
                <a:cubicBezTo>
                  <a:pt x="149394" y="39052"/>
                  <a:pt x="129213" y="14079"/>
                  <a:pt x="101798" y="4376"/>
                </a:cubicBezTo>
                <a:cubicBezTo>
                  <a:pt x="111413" y="19913"/>
                  <a:pt x="117991" y="43577"/>
                  <a:pt x="119033" y="69056"/>
                </a:cubicBezTo>
                <a:lnTo>
                  <a:pt x="152192" y="69056"/>
                </a:ln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27" name="Text 25"/>
          <p:cNvSpPr/>
          <p:nvPr/>
        </p:nvSpPr>
        <p:spPr>
          <a:xfrm>
            <a:off x="8008620" y="3947161"/>
            <a:ext cx="125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TensorFlow.js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513320" y="4423411"/>
            <a:ext cx="4133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Lenguaje: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JavaScript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513320" y="4766311"/>
            <a:ext cx="4133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Entorno: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Navegador / Node.js / React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513320" y="5109211"/>
            <a:ext cx="4133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Enfoque: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Inferencia web, demos interactivas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513320" y="5452111"/>
            <a:ext cx="4133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Hardware: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CPU, GPU vía WebGL/WebGPU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277100" y="6149340"/>
            <a:ext cx="4533900" cy="7620"/>
          </a:xfrm>
          <a:custGeom>
            <a:avLst/>
            <a:gdLst/>
            <a:ahLst/>
            <a:cxnLst/>
            <a:rect l="l" t="t" r="r" b="b"/>
            <a:pathLst>
              <a:path w="4533900" h="7620">
                <a:moveTo>
                  <a:pt x="0" y="0"/>
                </a:moveTo>
                <a:lnTo>
                  <a:pt x="4533900" y="0"/>
                </a:lnTo>
                <a:lnTo>
                  <a:pt x="45339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3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239000" y="6305550"/>
            <a:ext cx="461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Mismo fundamento matemático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, optimizado según el entorno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quarespace-cdn.com/e18d0552eeab55542e71d580ace2fd9321a2ff2e.jpg"/>
          <p:cNvPicPr>
            <a:picLocks noChangeAspect="1"/>
          </p:cNvPicPr>
          <p:nvPr/>
        </p:nvPicPr>
        <p:blipFill>
          <a:blip r:embed="rId3">
            <a:alphaModFix amt="5000"/>
          </a:blip>
          <a:srcRect l="2770" r="2770"/>
          <a:stretch/>
        </p:blipFill>
        <p:spPr>
          <a:xfrm>
            <a:off x="0" y="3429000"/>
            <a:ext cx="4876800" cy="3429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381000" y="466725"/>
            <a:ext cx="457200" cy="19050"/>
          </a:xfrm>
          <a:custGeom>
            <a:avLst/>
            <a:gdLst/>
            <a:ahLst/>
            <a:cxnLst/>
            <a:rect l="l" t="t" r="r" b="b"/>
            <a:pathLst>
              <a:path w="457200" h="19050">
                <a:moveTo>
                  <a:pt x="0" y="0"/>
                </a:moveTo>
                <a:lnTo>
                  <a:pt x="457200" y="0"/>
                </a:lnTo>
                <a:lnTo>
                  <a:pt x="4572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4" name="Text 1"/>
          <p:cNvSpPr/>
          <p:nvPr/>
        </p:nvSpPr>
        <p:spPr>
          <a:xfrm>
            <a:off x="990600" y="381000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315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BENEFICIOS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723900"/>
            <a:ext cx="11658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Ventajas de Ejecutar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IA en el Navegador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8620" y="2095500"/>
            <a:ext cx="15240" cy="1162050"/>
          </a:xfrm>
          <a:custGeom>
            <a:avLst/>
            <a:gdLst/>
            <a:ahLst/>
            <a:cxnLst/>
            <a:rect l="l" t="t" r="r" b="b"/>
            <a:pathLst>
              <a:path w="15240" h="1162050">
                <a:moveTo>
                  <a:pt x="0" y="0"/>
                </a:moveTo>
                <a:lnTo>
                  <a:pt x="15240" y="0"/>
                </a:lnTo>
                <a:lnTo>
                  <a:pt x="15240" y="1162050"/>
                </a:lnTo>
                <a:lnTo>
                  <a:pt x="0" y="11620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7" name="Shape 4"/>
          <p:cNvSpPr/>
          <p:nvPr/>
        </p:nvSpPr>
        <p:spPr>
          <a:xfrm>
            <a:off x="552450" y="2099310"/>
            <a:ext cx="293370" cy="293370"/>
          </a:xfrm>
          <a:custGeom>
            <a:avLst/>
            <a:gdLst/>
            <a:ahLst/>
            <a:cxnLst/>
            <a:rect l="l" t="t" r="r" b="b"/>
            <a:pathLst>
              <a:path w="293370" h="293370">
                <a:moveTo>
                  <a:pt x="0" y="0"/>
                </a:moveTo>
                <a:lnTo>
                  <a:pt x="293370" y="0"/>
                </a:lnTo>
                <a:lnTo>
                  <a:pt x="293370" y="293370"/>
                </a:lnTo>
                <a:lnTo>
                  <a:pt x="0" y="2933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8B86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6750" y="2114550"/>
            <a:ext cx="15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7740" y="2114550"/>
            <a:ext cx="88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Privacidad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2514600"/>
            <a:ext cx="26193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Los datos </a:t>
            </a:r>
            <a:r>
              <a:rPr lang="en-US" sz="1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salen del dispositivo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Ideal para webcam, micrófono y texto sensible. Cumple RGPD.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88620" y="3448050"/>
            <a:ext cx="15240" cy="1162050"/>
          </a:xfrm>
          <a:custGeom>
            <a:avLst/>
            <a:gdLst/>
            <a:ahLst/>
            <a:cxnLst/>
            <a:rect l="l" t="t" r="r" b="b"/>
            <a:pathLst>
              <a:path w="15240" h="1162050">
                <a:moveTo>
                  <a:pt x="0" y="0"/>
                </a:moveTo>
                <a:lnTo>
                  <a:pt x="15240" y="0"/>
                </a:lnTo>
                <a:lnTo>
                  <a:pt x="15240" y="1162050"/>
                </a:lnTo>
                <a:lnTo>
                  <a:pt x="0" y="116205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2" name="Shape 9"/>
          <p:cNvSpPr/>
          <p:nvPr/>
        </p:nvSpPr>
        <p:spPr>
          <a:xfrm>
            <a:off x="552450" y="3451860"/>
            <a:ext cx="293370" cy="293370"/>
          </a:xfrm>
          <a:custGeom>
            <a:avLst/>
            <a:gdLst/>
            <a:ahLst/>
            <a:cxnLst/>
            <a:rect l="l" t="t" r="r" b="b"/>
            <a:pathLst>
              <a:path w="293370" h="293370">
                <a:moveTo>
                  <a:pt x="0" y="0"/>
                </a:moveTo>
                <a:lnTo>
                  <a:pt x="293370" y="0"/>
                </a:lnTo>
                <a:lnTo>
                  <a:pt x="293370" y="293370"/>
                </a:lnTo>
                <a:lnTo>
                  <a:pt x="0" y="2933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C4B7A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1629" y="3467100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67740" y="3467100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Integración UI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48640" y="3867150"/>
            <a:ext cx="26193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 IA vive en el mismo entorno que la interfaz. Fácil integración con React, Vue, Angular.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293745" y="2095500"/>
            <a:ext cx="15240" cy="1162050"/>
          </a:xfrm>
          <a:custGeom>
            <a:avLst/>
            <a:gdLst/>
            <a:ahLst/>
            <a:cxnLst/>
            <a:rect l="l" t="t" r="r" b="b"/>
            <a:pathLst>
              <a:path w="15240" h="1162050">
                <a:moveTo>
                  <a:pt x="0" y="0"/>
                </a:moveTo>
                <a:lnTo>
                  <a:pt x="15240" y="0"/>
                </a:lnTo>
                <a:lnTo>
                  <a:pt x="15240" y="1162050"/>
                </a:lnTo>
                <a:lnTo>
                  <a:pt x="0" y="11620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7" name="Shape 14"/>
          <p:cNvSpPr/>
          <p:nvPr/>
        </p:nvSpPr>
        <p:spPr>
          <a:xfrm>
            <a:off x="3457575" y="2099310"/>
            <a:ext cx="293370" cy="293370"/>
          </a:xfrm>
          <a:custGeom>
            <a:avLst/>
            <a:gdLst/>
            <a:ahLst/>
            <a:cxnLst/>
            <a:rect l="l" t="t" r="r" b="b"/>
            <a:pathLst>
              <a:path w="293370" h="293370">
                <a:moveTo>
                  <a:pt x="0" y="0"/>
                </a:moveTo>
                <a:lnTo>
                  <a:pt x="293370" y="0"/>
                </a:lnTo>
                <a:lnTo>
                  <a:pt x="293370" y="293370"/>
                </a:lnTo>
                <a:lnTo>
                  <a:pt x="0" y="2933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8B868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56278" y="2114550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872865" y="2114550"/>
            <a:ext cx="132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Latencia Mínima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453765" y="2514600"/>
            <a:ext cx="26193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Respuesta inmediata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sin llamadas a backend. Experiencia fluida para detección de poses, filtros de cámara.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293745" y="3448050"/>
            <a:ext cx="15240" cy="1162050"/>
          </a:xfrm>
          <a:custGeom>
            <a:avLst/>
            <a:gdLst/>
            <a:ahLst/>
            <a:cxnLst/>
            <a:rect l="l" t="t" r="r" b="b"/>
            <a:pathLst>
              <a:path w="15240" h="1162050">
                <a:moveTo>
                  <a:pt x="0" y="0"/>
                </a:moveTo>
                <a:lnTo>
                  <a:pt x="15240" y="0"/>
                </a:lnTo>
                <a:lnTo>
                  <a:pt x="15240" y="1162050"/>
                </a:lnTo>
                <a:lnTo>
                  <a:pt x="0" y="116205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2" name="Shape 19"/>
          <p:cNvSpPr/>
          <p:nvPr/>
        </p:nvSpPr>
        <p:spPr>
          <a:xfrm>
            <a:off x="3457575" y="3451860"/>
            <a:ext cx="293370" cy="293370"/>
          </a:xfrm>
          <a:custGeom>
            <a:avLst/>
            <a:gdLst/>
            <a:ahLst/>
            <a:cxnLst/>
            <a:rect l="l" t="t" r="r" b="b"/>
            <a:pathLst>
              <a:path w="293370" h="293370">
                <a:moveTo>
                  <a:pt x="0" y="0"/>
                </a:moveTo>
                <a:lnTo>
                  <a:pt x="293370" y="0"/>
                </a:lnTo>
                <a:lnTo>
                  <a:pt x="293370" y="293370"/>
                </a:lnTo>
                <a:lnTo>
                  <a:pt x="0" y="2933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C4B7A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54849" y="3467100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872865" y="3467100"/>
            <a:ext cx="139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Hardware Cliente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3453765" y="3867150"/>
            <a:ext cx="26193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Usa CPU y GPU vía WebGL/WebGPU. Sin necesidad de CUDA ni drivers especiales.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198870" y="2095500"/>
            <a:ext cx="15240" cy="1162050"/>
          </a:xfrm>
          <a:custGeom>
            <a:avLst/>
            <a:gdLst/>
            <a:ahLst/>
            <a:cxnLst/>
            <a:rect l="l" t="t" r="r" b="b"/>
            <a:pathLst>
              <a:path w="15240" h="1162050">
                <a:moveTo>
                  <a:pt x="0" y="0"/>
                </a:moveTo>
                <a:lnTo>
                  <a:pt x="15240" y="0"/>
                </a:lnTo>
                <a:lnTo>
                  <a:pt x="15240" y="1162050"/>
                </a:lnTo>
                <a:lnTo>
                  <a:pt x="0" y="11620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7" name="Shape 24"/>
          <p:cNvSpPr/>
          <p:nvPr/>
        </p:nvSpPr>
        <p:spPr>
          <a:xfrm>
            <a:off x="6362700" y="2099310"/>
            <a:ext cx="293370" cy="293370"/>
          </a:xfrm>
          <a:custGeom>
            <a:avLst/>
            <a:gdLst/>
            <a:ahLst/>
            <a:cxnLst/>
            <a:rect l="l" t="t" r="r" b="b"/>
            <a:pathLst>
              <a:path w="293370" h="293370">
                <a:moveTo>
                  <a:pt x="0" y="0"/>
                </a:moveTo>
                <a:lnTo>
                  <a:pt x="293370" y="0"/>
                </a:lnTo>
                <a:lnTo>
                  <a:pt x="293370" y="293370"/>
                </a:lnTo>
                <a:lnTo>
                  <a:pt x="0" y="2933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8B868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60689" y="2114550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777990" y="2114550"/>
            <a:ext cx="108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Escalabilidad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358890" y="2514600"/>
            <a:ext cx="26193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cómputo lo hace el </a:t>
            </a:r>
            <a:r>
              <a:rPr lang="en-US" sz="1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dispositivo del usuario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Menos coste cloud, menos infraestructura.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198870" y="3448050"/>
            <a:ext cx="15240" cy="1162050"/>
          </a:xfrm>
          <a:custGeom>
            <a:avLst/>
            <a:gdLst/>
            <a:ahLst/>
            <a:cxnLst/>
            <a:rect l="l" t="t" r="r" b="b"/>
            <a:pathLst>
              <a:path w="15240" h="1162050">
                <a:moveTo>
                  <a:pt x="0" y="0"/>
                </a:moveTo>
                <a:lnTo>
                  <a:pt x="15240" y="0"/>
                </a:lnTo>
                <a:lnTo>
                  <a:pt x="15240" y="1162050"/>
                </a:lnTo>
                <a:lnTo>
                  <a:pt x="0" y="116205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32" name="Shape 29"/>
          <p:cNvSpPr/>
          <p:nvPr/>
        </p:nvSpPr>
        <p:spPr>
          <a:xfrm>
            <a:off x="6362700" y="3451860"/>
            <a:ext cx="293370" cy="293370"/>
          </a:xfrm>
          <a:custGeom>
            <a:avLst/>
            <a:gdLst/>
            <a:ahLst/>
            <a:cxnLst/>
            <a:rect l="l" t="t" r="r" b="b"/>
            <a:pathLst>
              <a:path w="293370" h="293370">
                <a:moveTo>
                  <a:pt x="0" y="0"/>
                </a:moveTo>
                <a:lnTo>
                  <a:pt x="293370" y="0"/>
                </a:lnTo>
                <a:lnTo>
                  <a:pt x="293370" y="293370"/>
                </a:lnTo>
                <a:lnTo>
                  <a:pt x="0" y="2933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C4B7A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67356" y="3467100"/>
            <a:ext cx="171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777990" y="3467100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Demos y Portfolio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358890" y="3867150"/>
            <a:ext cx="26193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Visual, interactivo, impactante. Perfecto para presentaciones, hackathons, mostrar skills full-stack.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9103995" y="2095500"/>
            <a:ext cx="15240" cy="1162050"/>
          </a:xfrm>
          <a:custGeom>
            <a:avLst/>
            <a:gdLst/>
            <a:ahLst/>
            <a:cxnLst/>
            <a:rect l="l" t="t" r="r" b="b"/>
            <a:pathLst>
              <a:path w="15240" h="1162050">
                <a:moveTo>
                  <a:pt x="0" y="0"/>
                </a:moveTo>
                <a:lnTo>
                  <a:pt x="15240" y="0"/>
                </a:lnTo>
                <a:lnTo>
                  <a:pt x="15240" y="1162050"/>
                </a:lnTo>
                <a:lnTo>
                  <a:pt x="0" y="11620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7" name="Shape 34"/>
          <p:cNvSpPr/>
          <p:nvPr/>
        </p:nvSpPr>
        <p:spPr>
          <a:xfrm>
            <a:off x="9267825" y="2099310"/>
            <a:ext cx="293370" cy="293370"/>
          </a:xfrm>
          <a:custGeom>
            <a:avLst/>
            <a:gdLst/>
            <a:ahLst/>
            <a:cxnLst/>
            <a:rect l="l" t="t" r="r" b="b"/>
            <a:pathLst>
              <a:path w="293370" h="293370">
                <a:moveTo>
                  <a:pt x="0" y="0"/>
                </a:moveTo>
                <a:lnTo>
                  <a:pt x="293370" y="0"/>
                </a:lnTo>
                <a:lnTo>
                  <a:pt x="293370" y="293370"/>
                </a:lnTo>
                <a:lnTo>
                  <a:pt x="0" y="2933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8B868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365814" y="2114550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9683115" y="2114550"/>
            <a:ext cx="132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Funciona Offline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9264015" y="2514600"/>
            <a:ext cx="26193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modelo se descarga una vez. La app sigue funcionando </a:t>
            </a:r>
            <a:r>
              <a:rPr lang="en-US" sz="1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 conexión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Ideal para PWAs.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9103995" y="3448050"/>
            <a:ext cx="15240" cy="1409700"/>
          </a:xfrm>
          <a:custGeom>
            <a:avLst/>
            <a:gdLst/>
            <a:ahLst/>
            <a:cxnLst/>
            <a:rect l="l" t="t" r="r" b="b"/>
            <a:pathLst>
              <a:path w="15240" h="1409700">
                <a:moveTo>
                  <a:pt x="0" y="0"/>
                </a:moveTo>
                <a:lnTo>
                  <a:pt x="15240" y="0"/>
                </a:lnTo>
                <a:lnTo>
                  <a:pt x="15240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42" name="Shape 39"/>
          <p:cNvSpPr/>
          <p:nvPr/>
        </p:nvSpPr>
        <p:spPr>
          <a:xfrm>
            <a:off x="9267825" y="3451860"/>
            <a:ext cx="293370" cy="293370"/>
          </a:xfrm>
          <a:custGeom>
            <a:avLst/>
            <a:gdLst/>
            <a:ahLst/>
            <a:cxnLst/>
            <a:rect l="l" t="t" r="r" b="b"/>
            <a:pathLst>
              <a:path w="293370" h="293370">
                <a:moveTo>
                  <a:pt x="0" y="0"/>
                </a:moveTo>
                <a:lnTo>
                  <a:pt x="293370" y="0"/>
                </a:lnTo>
                <a:lnTo>
                  <a:pt x="293370" y="293370"/>
                </a:lnTo>
                <a:lnTo>
                  <a:pt x="0" y="2933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C4B7A6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363670" y="3467100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9683115" y="3467100"/>
            <a:ext cx="131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Coste Operativo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9264015" y="3867150"/>
            <a:ext cx="26193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Menos llamadas a APIs, menos servidores, menos consumo cloud. Especialmente útil en MVPs y startups.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381000" y="6073140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30196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404813" y="62674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48" name="Text 45"/>
          <p:cNvSpPr/>
          <p:nvPr/>
        </p:nvSpPr>
        <p:spPr>
          <a:xfrm>
            <a:off x="771525" y="6229350"/>
            <a:ext cx="10877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Limitaciones: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 apto para modelos muy grandes o entrenamiento pesado. Dependiente del dispositivo del usuario. GPU del navegador es más limitada que CUDA.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52950" y="466725"/>
            <a:ext cx="457200" cy="19050"/>
          </a:xfrm>
          <a:custGeom>
            <a:avLst/>
            <a:gdLst/>
            <a:ahLst/>
            <a:cxnLst/>
            <a:rect l="l" t="t" r="r" b="b"/>
            <a:pathLst>
              <a:path w="457200" h="19050">
                <a:moveTo>
                  <a:pt x="0" y="0"/>
                </a:moveTo>
                <a:lnTo>
                  <a:pt x="457200" y="0"/>
                </a:lnTo>
                <a:lnTo>
                  <a:pt x="4572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" name="Text 1"/>
          <p:cNvSpPr/>
          <p:nvPr/>
        </p:nvSpPr>
        <p:spPr>
          <a:xfrm>
            <a:off x="5129213" y="381000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kern="0" spc="315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FLUJO DE TRABAJO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81850" y="466725"/>
            <a:ext cx="457200" cy="19050"/>
          </a:xfrm>
          <a:custGeom>
            <a:avLst/>
            <a:gdLst/>
            <a:ahLst/>
            <a:cxnLst/>
            <a:rect l="l" t="t" r="r" b="b"/>
            <a:pathLst>
              <a:path w="457200" h="19050">
                <a:moveTo>
                  <a:pt x="0" y="0"/>
                </a:moveTo>
                <a:lnTo>
                  <a:pt x="457200" y="0"/>
                </a:lnTo>
                <a:lnTo>
                  <a:pt x="4572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5" name="Text 3"/>
          <p:cNvSpPr/>
          <p:nvPr/>
        </p:nvSpPr>
        <p:spPr>
          <a:xfrm>
            <a:off x="266700" y="723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Integración Conceptual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3375" y="12954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+ TensorFlow.js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569720" y="2419350"/>
            <a:ext cx="1053465" cy="1053465"/>
          </a:xfrm>
          <a:custGeom>
            <a:avLst/>
            <a:gdLst/>
            <a:ahLst/>
            <a:cxnLst/>
            <a:rect l="l" t="t" r="r" b="b"/>
            <a:pathLst>
              <a:path w="1053465" h="1053465">
                <a:moveTo>
                  <a:pt x="0" y="0"/>
                </a:moveTo>
                <a:lnTo>
                  <a:pt x="1053465" y="0"/>
                </a:lnTo>
                <a:lnTo>
                  <a:pt x="1053465" y="1053465"/>
                </a:lnTo>
                <a:lnTo>
                  <a:pt x="0" y="105346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8B86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45481" y="2773682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150019" y="166092"/>
                </a:moveTo>
                <a:cubicBezTo>
                  <a:pt x="194375" y="166092"/>
                  <a:pt x="230386" y="130081"/>
                  <a:pt x="230386" y="85725"/>
                </a:cubicBezTo>
                <a:cubicBezTo>
                  <a:pt x="230386" y="41369"/>
                  <a:pt x="194375" y="5358"/>
                  <a:pt x="150019" y="5358"/>
                </a:cubicBezTo>
                <a:cubicBezTo>
                  <a:pt x="105663" y="5358"/>
                  <a:pt x="69652" y="41369"/>
                  <a:pt x="69652" y="85725"/>
                </a:cubicBezTo>
                <a:cubicBezTo>
                  <a:pt x="69652" y="130081"/>
                  <a:pt x="105663" y="166092"/>
                  <a:pt x="150019" y="166092"/>
                </a:cubicBezTo>
                <a:close/>
                <a:moveTo>
                  <a:pt x="130128" y="203597"/>
                </a:moveTo>
                <a:cubicBezTo>
                  <a:pt x="64160" y="203597"/>
                  <a:pt x="10716" y="257041"/>
                  <a:pt x="10716" y="323009"/>
                </a:cubicBezTo>
                <a:cubicBezTo>
                  <a:pt x="10716" y="333993"/>
                  <a:pt x="19623" y="342900"/>
                  <a:pt x="30607" y="342900"/>
                </a:cubicBezTo>
                <a:lnTo>
                  <a:pt x="269431" y="342900"/>
                </a:lnTo>
                <a:cubicBezTo>
                  <a:pt x="280415" y="342900"/>
                  <a:pt x="289322" y="333993"/>
                  <a:pt x="289322" y="323009"/>
                </a:cubicBezTo>
                <a:cubicBezTo>
                  <a:pt x="289322" y="257041"/>
                  <a:pt x="235878" y="203597"/>
                  <a:pt x="169910" y="203597"/>
                </a:cubicBezTo>
                <a:lnTo>
                  <a:pt x="130128" y="203597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3630932"/>
            <a:ext cx="1847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Usuario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1100" y="397383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Realiza acción: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sube imagen, escribe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texto, hace clic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124200" y="3345182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2" name="Shape 10"/>
          <p:cNvSpPr/>
          <p:nvPr/>
        </p:nvSpPr>
        <p:spPr>
          <a:xfrm>
            <a:off x="3333750" y="344043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3" name="Shape 11"/>
          <p:cNvSpPr/>
          <p:nvPr/>
        </p:nvSpPr>
        <p:spPr>
          <a:xfrm>
            <a:off x="3124200" y="3707132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4" name="Shape 12"/>
          <p:cNvSpPr/>
          <p:nvPr/>
        </p:nvSpPr>
        <p:spPr>
          <a:xfrm>
            <a:off x="4236720" y="2419350"/>
            <a:ext cx="1053465" cy="1053465"/>
          </a:xfrm>
          <a:custGeom>
            <a:avLst/>
            <a:gdLst/>
            <a:ahLst/>
            <a:cxnLst/>
            <a:rect l="l" t="t" r="r" b="b"/>
            <a:pathLst>
              <a:path w="1053465" h="1053465">
                <a:moveTo>
                  <a:pt x="0" y="0"/>
                </a:moveTo>
                <a:lnTo>
                  <a:pt x="1053465" y="0"/>
                </a:lnTo>
                <a:lnTo>
                  <a:pt x="1053465" y="1053465"/>
                </a:lnTo>
                <a:lnTo>
                  <a:pt x="0" y="105346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91050" y="2773682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280080" y="118676"/>
                </a:moveTo>
                <a:cubicBezTo>
                  <a:pt x="276463" y="117470"/>
                  <a:pt x="272847" y="116332"/>
                  <a:pt x="269230" y="115260"/>
                </a:cubicBezTo>
                <a:cubicBezTo>
                  <a:pt x="269833" y="112782"/>
                  <a:pt x="270369" y="110304"/>
                  <a:pt x="270904" y="107826"/>
                </a:cubicBezTo>
                <a:cubicBezTo>
                  <a:pt x="279142" y="67910"/>
                  <a:pt x="273717" y="35830"/>
                  <a:pt x="255434" y="25249"/>
                </a:cubicBezTo>
                <a:cubicBezTo>
                  <a:pt x="237820" y="15136"/>
                  <a:pt x="209089" y="25651"/>
                  <a:pt x="180022" y="50966"/>
                </a:cubicBezTo>
                <a:cubicBezTo>
                  <a:pt x="177143" y="53444"/>
                  <a:pt x="174330" y="56056"/>
                  <a:pt x="171651" y="58668"/>
                </a:cubicBezTo>
                <a:cubicBezTo>
                  <a:pt x="169843" y="56927"/>
                  <a:pt x="167967" y="55185"/>
                  <a:pt x="166092" y="53511"/>
                </a:cubicBezTo>
                <a:cubicBezTo>
                  <a:pt x="135620" y="26454"/>
                  <a:pt x="105080" y="15069"/>
                  <a:pt x="86797" y="25717"/>
                </a:cubicBezTo>
                <a:cubicBezTo>
                  <a:pt x="69250" y="35897"/>
                  <a:pt x="64026" y="66102"/>
                  <a:pt x="71393" y="103875"/>
                </a:cubicBezTo>
                <a:cubicBezTo>
                  <a:pt x="72130" y="107625"/>
                  <a:pt x="72933" y="111309"/>
                  <a:pt x="73871" y="115059"/>
                </a:cubicBezTo>
                <a:cubicBezTo>
                  <a:pt x="69585" y="116265"/>
                  <a:pt x="65365" y="117604"/>
                  <a:pt x="61414" y="119010"/>
                </a:cubicBezTo>
                <a:cubicBezTo>
                  <a:pt x="25651" y="131400"/>
                  <a:pt x="0" y="150956"/>
                  <a:pt x="0" y="171182"/>
                </a:cubicBezTo>
                <a:cubicBezTo>
                  <a:pt x="0" y="192078"/>
                  <a:pt x="27325" y="213040"/>
                  <a:pt x="64495" y="225765"/>
                </a:cubicBezTo>
                <a:cubicBezTo>
                  <a:pt x="67508" y="226769"/>
                  <a:pt x="70522" y="227774"/>
                  <a:pt x="73603" y="228645"/>
                </a:cubicBezTo>
                <a:cubicBezTo>
                  <a:pt x="72598" y="232663"/>
                  <a:pt x="71728" y="236614"/>
                  <a:pt x="70924" y="240700"/>
                </a:cubicBezTo>
                <a:cubicBezTo>
                  <a:pt x="63892" y="277870"/>
                  <a:pt x="69384" y="307338"/>
                  <a:pt x="86931" y="317450"/>
                </a:cubicBezTo>
                <a:cubicBezTo>
                  <a:pt x="105013" y="327898"/>
                  <a:pt x="135419" y="317183"/>
                  <a:pt x="165021" y="291264"/>
                </a:cubicBezTo>
                <a:cubicBezTo>
                  <a:pt x="167365" y="289188"/>
                  <a:pt x="169709" y="287045"/>
                  <a:pt x="172053" y="284768"/>
                </a:cubicBezTo>
                <a:cubicBezTo>
                  <a:pt x="175000" y="287648"/>
                  <a:pt x="178080" y="290393"/>
                  <a:pt x="181161" y="293072"/>
                </a:cubicBezTo>
                <a:cubicBezTo>
                  <a:pt x="209825" y="317718"/>
                  <a:pt x="238155" y="327697"/>
                  <a:pt x="255635" y="317584"/>
                </a:cubicBezTo>
                <a:cubicBezTo>
                  <a:pt x="273717" y="307137"/>
                  <a:pt x="279611" y="275459"/>
                  <a:pt x="271976" y="236882"/>
                </a:cubicBezTo>
                <a:cubicBezTo>
                  <a:pt x="271373" y="233935"/>
                  <a:pt x="270703" y="230922"/>
                  <a:pt x="269967" y="227841"/>
                </a:cubicBezTo>
                <a:cubicBezTo>
                  <a:pt x="272110" y="227238"/>
                  <a:pt x="274186" y="226568"/>
                  <a:pt x="276262" y="225899"/>
                </a:cubicBezTo>
                <a:cubicBezTo>
                  <a:pt x="314905" y="213107"/>
                  <a:pt x="342900" y="192412"/>
                  <a:pt x="342900" y="171182"/>
                </a:cubicBezTo>
                <a:cubicBezTo>
                  <a:pt x="342900" y="150889"/>
                  <a:pt x="316513" y="131199"/>
                  <a:pt x="280080" y="118676"/>
                </a:cubicBezTo>
                <a:close/>
                <a:moveTo>
                  <a:pt x="189466" y="61816"/>
                </a:moveTo>
                <a:cubicBezTo>
                  <a:pt x="214379" y="40117"/>
                  <a:pt x="237619" y="31611"/>
                  <a:pt x="248201" y="37706"/>
                </a:cubicBezTo>
                <a:cubicBezTo>
                  <a:pt x="259519" y="44202"/>
                  <a:pt x="263872" y="70455"/>
                  <a:pt x="256773" y="104946"/>
                </a:cubicBezTo>
                <a:cubicBezTo>
                  <a:pt x="256304" y="107223"/>
                  <a:pt x="255836" y="109433"/>
                  <a:pt x="255233" y="111643"/>
                </a:cubicBezTo>
                <a:cubicBezTo>
                  <a:pt x="240365" y="108295"/>
                  <a:pt x="225296" y="105884"/>
                  <a:pt x="210160" y="104544"/>
                </a:cubicBezTo>
                <a:cubicBezTo>
                  <a:pt x="201454" y="92087"/>
                  <a:pt x="191944" y="80166"/>
                  <a:pt x="181630" y="68982"/>
                </a:cubicBezTo>
                <a:cubicBezTo>
                  <a:pt x="184242" y="66504"/>
                  <a:pt x="186787" y="64160"/>
                  <a:pt x="189466" y="61816"/>
                </a:cubicBezTo>
                <a:close/>
                <a:moveTo>
                  <a:pt x="111978" y="205941"/>
                </a:moveTo>
                <a:cubicBezTo>
                  <a:pt x="115394" y="211768"/>
                  <a:pt x="118876" y="217594"/>
                  <a:pt x="122560" y="223287"/>
                </a:cubicBezTo>
                <a:cubicBezTo>
                  <a:pt x="112112" y="222148"/>
                  <a:pt x="101731" y="220474"/>
                  <a:pt x="91485" y="218264"/>
                </a:cubicBezTo>
                <a:cubicBezTo>
                  <a:pt x="94431" y="208620"/>
                  <a:pt x="98115" y="198641"/>
                  <a:pt x="102401" y="188461"/>
                </a:cubicBezTo>
                <a:cubicBezTo>
                  <a:pt x="105482" y="194355"/>
                  <a:pt x="108630" y="200181"/>
                  <a:pt x="111978" y="205941"/>
                </a:cubicBezTo>
                <a:close/>
                <a:moveTo>
                  <a:pt x="91686" y="125373"/>
                </a:moveTo>
                <a:cubicBezTo>
                  <a:pt x="101330" y="123230"/>
                  <a:pt x="111576" y="121488"/>
                  <a:pt x="122225" y="120149"/>
                </a:cubicBezTo>
                <a:cubicBezTo>
                  <a:pt x="118676" y="125708"/>
                  <a:pt x="115193" y="131400"/>
                  <a:pt x="111911" y="137160"/>
                </a:cubicBezTo>
                <a:cubicBezTo>
                  <a:pt x="108630" y="142853"/>
                  <a:pt x="105415" y="148679"/>
                  <a:pt x="102401" y="154573"/>
                </a:cubicBezTo>
                <a:cubicBezTo>
                  <a:pt x="98182" y="144594"/>
                  <a:pt x="94632" y="134816"/>
                  <a:pt x="91686" y="125373"/>
                </a:cubicBezTo>
                <a:close/>
                <a:moveTo>
                  <a:pt x="110036" y="171517"/>
                </a:moveTo>
                <a:cubicBezTo>
                  <a:pt x="114456" y="162275"/>
                  <a:pt x="119278" y="153233"/>
                  <a:pt x="124368" y="144326"/>
                </a:cubicBezTo>
                <a:cubicBezTo>
                  <a:pt x="129458" y="135419"/>
                  <a:pt x="134950" y="126779"/>
                  <a:pt x="140710" y="118274"/>
                </a:cubicBezTo>
                <a:cubicBezTo>
                  <a:pt x="150755" y="117537"/>
                  <a:pt x="161002" y="117135"/>
                  <a:pt x="171450" y="117135"/>
                </a:cubicBezTo>
                <a:cubicBezTo>
                  <a:pt x="181898" y="117135"/>
                  <a:pt x="192212" y="117537"/>
                  <a:pt x="202190" y="118274"/>
                </a:cubicBezTo>
                <a:cubicBezTo>
                  <a:pt x="207883" y="126712"/>
                  <a:pt x="213308" y="135352"/>
                  <a:pt x="218465" y="144192"/>
                </a:cubicBezTo>
                <a:cubicBezTo>
                  <a:pt x="223622" y="153033"/>
                  <a:pt x="228444" y="162074"/>
                  <a:pt x="232998" y="171249"/>
                </a:cubicBezTo>
                <a:cubicBezTo>
                  <a:pt x="228511" y="180491"/>
                  <a:pt x="223689" y="189600"/>
                  <a:pt x="218532" y="198574"/>
                </a:cubicBezTo>
                <a:cubicBezTo>
                  <a:pt x="213442" y="207481"/>
                  <a:pt x="208017" y="216121"/>
                  <a:pt x="202324" y="224693"/>
                </a:cubicBezTo>
                <a:cubicBezTo>
                  <a:pt x="192345" y="225430"/>
                  <a:pt x="181965" y="225765"/>
                  <a:pt x="171450" y="225765"/>
                </a:cubicBezTo>
                <a:cubicBezTo>
                  <a:pt x="160935" y="225765"/>
                  <a:pt x="150755" y="225430"/>
                  <a:pt x="140910" y="224827"/>
                </a:cubicBezTo>
                <a:cubicBezTo>
                  <a:pt x="135084" y="216322"/>
                  <a:pt x="129592" y="207615"/>
                  <a:pt x="124435" y="198708"/>
                </a:cubicBezTo>
                <a:cubicBezTo>
                  <a:pt x="119278" y="189801"/>
                  <a:pt x="114523" y="180759"/>
                  <a:pt x="110036" y="171517"/>
                </a:cubicBezTo>
                <a:close/>
                <a:moveTo>
                  <a:pt x="230989" y="205807"/>
                </a:moveTo>
                <a:cubicBezTo>
                  <a:pt x="234404" y="199913"/>
                  <a:pt x="237619" y="193953"/>
                  <a:pt x="240767" y="187925"/>
                </a:cubicBezTo>
                <a:cubicBezTo>
                  <a:pt x="245053" y="197636"/>
                  <a:pt x="248803" y="207481"/>
                  <a:pt x="252085" y="217594"/>
                </a:cubicBezTo>
                <a:cubicBezTo>
                  <a:pt x="241704" y="219938"/>
                  <a:pt x="231190" y="221746"/>
                  <a:pt x="220608" y="222952"/>
                </a:cubicBezTo>
                <a:cubicBezTo>
                  <a:pt x="224224" y="217326"/>
                  <a:pt x="227640" y="211567"/>
                  <a:pt x="230989" y="205807"/>
                </a:cubicBezTo>
                <a:close/>
                <a:moveTo>
                  <a:pt x="240633" y="154573"/>
                </a:moveTo>
                <a:cubicBezTo>
                  <a:pt x="237485" y="148679"/>
                  <a:pt x="234270" y="142786"/>
                  <a:pt x="230922" y="137026"/>
                </a:cubicBezTo>
                <a:cubicBezTo>
                  <a:pt x="227640" y="131333"/>
                  <a:pt x="224224" y="125708"/>
                  <a:pt x="220675" y="120149"/>
                </a:cubicBezTo>
                <a:cubicBezTo>
                  <a:pt x="231458" y="121488"/>
                  <a:pt x="241771" y="123297"/>
                  <a:pt x="251415" y="125507"/>
                </a:cubicBezTo>
                <a:cubicBezTo>
                  <a:pt x="248335" y="135419"/>
                  <a:pt x="244718" y="145063"/>
                  <a:pt x="240633" y="154573"/>
                </a:cubicBezTo>
                <a:close/>
                <a:moveTo>
                  <a:pt x="171584" y="79229"/>
                </a:moveTo>
                <a:cubicBezTo>
                  <a:pt x="178616" y="86864"/>
                  <a:pt x="185246" y="94900"/>
                  <a:pt x="191408" y="103205"/>
                </a:cubicBezTo>
                <a:cubicBezTo>
                  <a:pt x="178147" y="102602"/>
                  <a:pt x="164820" y="102602"/>
                  <a:pt x="151559" y="103205"/>
                </a:cubicBezTo>
                <a:cubicBezTo>
                  <a:pt x="158122" y="94565"/>
                  <a:pt x="164887" y="86529"/>
                  <a:pt x="171584" y="79229"/>
                </a:cubicBezTo>
                <a:close/>
                <a:moveTo>
                  <a:pt x="93896" y="38174"/>
                </a:moveTo>
                <a:cubicBezTo>
                  <a:pt x="105147" y="31611"/>
                  <a:pt x="130128" y="40987"/>
                  <a:pt x="156448" y="64294"/>
                </a:cubicBezTo>
                <a:cubicBezTo>
                  <a:pt x="158122" y="65767"/>
                  <a:pt x="159797" y="67374"/>
                  <a:pt x="161538" y="68982"/>
                </a:cubicBezTo>
                <a:cubicBezTo>
                  <a:pt x="151157" y="80166"/>
                  <a:pt x="141580" y="92087"/>
                  <a:pt x="132807" y="104544"/>
                </a:cubicBezTo>
                <a:cubicBezTo>
                  <a:pt x="117671" y="105884"/>
                  <a:pt x="102669" y="108228"/>
                  <a:pt x="87801" y="111509"/>
                </a:cubicBezTo>
                <a:cubicBezTo>
                  <a:pt x="86931" y="108094"/>
                  <a:pt x="86194" y="104611"/>
                  <a:pt x="85457" y="101129"/>
                </a:cubicBezTo>
                <a:cubicBezTo>
                  <a:pt x="79162" y="68714"/>
                  <a:pt x="83314" y="44269"/>
                  <a:pt x="93896" y="38174"/>
                </a:cubicBezTo>
                <a:close/>
                <a:moveTo>
                  <a:pt x="77487" y="214714"/>
                </a:moveTo>
                <a:cubicBezTo>
                  <a:pt x="74675" y="213911"/>
                  <a:pt x="71929" y="213040"/>
                  <a:pt x="69183" y="212102"/>
                </a:cubicBezTo>
                <a:cubicBezTo>
                  <a:pt x="54918" y="207615"/>
                  <a:pt x="38710" y="200516"/>
                  <a:pt x="26990" y="191207"/>
                </a:cubicBezTo>
                <a:cubicBezTo>
                  <a:pt x="20226" y="186519"/>
                  <a:pt x="15672" y="179286"/>
                  <a:pt x="14399" y="171182"/>
                </a:cubicBezTo>
                <a:cubicBezTo>
                  <a:pt x="14399" y="158926"/>
                  <a:pt x="35562" y="143255"/>
                  <a:pt x="66102" y="132606"/>
                </a:cubicBezTo>
                <a:cubicBezTo>
                  <a:pt x="69919" y="131266"/>
                  <a:pt x="73804" y="130061"/>
                  <a:pt x="77688" y="128922"/>
                </a:cubicBezTo>
                <a:cubicBezTo>
                  <a:pt x="82242" y="143455"/>
                  <a:pt x="87734" y="157721"/>
                  <a:pt x="94097" y="171517"/>
                </a:cubicBezTo>
                <a:cubicBezTo>
                  <a:pt x="87667" y="185514"/>
                  <a:pt x="82108" y="199980"/>
                  <a:pt x="77487" y="214714"/>
                </a:cubicBezTo>
                <a:close/>
                <a:moveTo>
                  <a:pt x="155577" y="280348"/>
                </a:moveTo>
                <a:cubicBezTo>
                  <a:pt x="144527" y="290460"/>
                  <a:pt x="131735" y="298497"/>
                  <a:pt x="117805" y="303989"/>
                </a:cubicBezTo>
                <a:cubicBezTo>
                  <a:pt x="110371" y="307538"/>
                  <a:pt x="101798" y="307873"/>
                  <a:pt x="94164" y="304860"/>
                </a:cubicBezTo>
                <a:cubicBezTo>
                  <a:pt x="83515" y="298698"/>
                  <a:pt x="79095" y="275057"/>
                  <a:pt x="85122" y="243245"/>
                </a:cubicBezTo>
                <a:cubicBezTo>
                  <a:pt x="85859" y="239494"/>
                  <a:pt x="86663" y="235744"/>
                  <a:pt x="87600" y="232060"/>
                </a:cubicBezTo>
                <a:cubicBezTo>
                  <a:pt x="102602" y="235275"/>
                  <a:pt x="117738" y="237485"/>
                  <a:pt x="133075" y="238624"/>
                </a:cubicBezTo>
                <a:cubicBezTo>
                  <a:pt x="141915" y="251147"/>
                  <a:pt x="151626" y="263136"/>
                  <a:pt x="162007" y="274387"/>
                </a:cubicBezTo>
                <a:cubicBezTo>
                  <a:pt x="159864" y="276463"/>
                  <a:pt x="157721" y="278472"/>
                  <a:pt x="155577" y="280348"/>
                </a:cubicBezTo>
                <a:close/>
                <a:moveTo>
                  <a:pt x="171986" y="264073"/>
                </a:moveTo>
                <a:cubicBezTo>
                  <a:pt x="165155" y="256706"/>
                  <a:pt x="158323" y="248536"/>
                  <a:pt x="151693" y="239762"/>
                </a:cubicBezTo>
                <a:cubicBezTo>
                  <a:pt x="158122" y="240030"/>
                  <a:pt x="164753" y="240164"/>
                  <a:pt x="171450" y="240164"/>
                </a:cubicBezTo>
                <a:cubicBezTo>
                  <a:pt x="178348" y="240164"/>
                  <a:pt x="185112" y="240030"/>
                  <a:pt x="191810" y="239695"/>
                </a:cubicBezTo>
                <a:cubicBezTo>
                  <a:pt x="185648" y="248201"/>
                  <a:pt x="179018" y="256304"/>
                  <a:pt x="171986" y="264073"/>
                </a:cubicBezTo>
                <a:close/>
                <a:moveTo>
                  <a:pt x="259519" y="284165"/>
                </a:moveTo>
                <a:cubicBezTo>
                  <a:pt x="258916" y="292336"/>
                  <a:pt x="254898" y="299971"/>
                  <a:pt x="248469" y="305127"/>
                </a:cubicBezTo>
                <a:cubicBezTo>
                  <a:pt x="237820" y="311289"/>
                  <a:pt x="215116" y="303252"/>
                  <a:pt x="190604" y="282223"/>
                </a:cubicBezTo>
                <a:cubicBezTo>
                  <a:pt x="187791" y="279812"/>
                  <a:pt x="184978" y="277200"/>
                  <a:pt x="182099" y="274521"/>
                </a:cubicBezTo>
                <a:cubicBezTo>
                  <a:pt x="192345" y="263203"/>
                  <a:pt x="201789" y="251214"/>
                  <a:pt x="210361" y="238624"/>
                </a:cubicBezTo>
                <a:cubicBezTo>
                  <a:pt x="225698" y="237351"/>
                  <a:pt x="240968" y="235007"/>
                  <a:pt x="256036" y="231591"/>
                </a:cubicBezTo>
                <a:cubicBezTo>
                  <a:pt x="256706" y="234337"/>
                  <a:pt x="257309" y="237083"/>
                  <a:pt x="257845" y="239762"/>
                </a:cubicBezTo>
                <a:cubicBezTo>
                  <a:pt x="261126" y="254228"/>
                  <a:pt x="261662" y="269297"/>
                  <a:pt x="259519" y="284165"/>
                </a:cubicBezTo>
                <a:close/>
                <a:moveTo>
                  <a:pt x="271708" y="212169"/>
                </a:moveTo>
                <a:cubicBezTo>
                  <a:pt x="269833" y="212772"/>
                  <a:pt x="267958" y="213375"/>
                  <a:pt x="266015" y="213911"/>
                </a:cubicBezTo>
                <a:cubicBezTo>
                  <a:pt x="261327" y="199311"/>
                  <a:pt x="255568" y="185045"/>
                  <a:pt x="248937" y="171182"/>
                </a:cubicBezTo>
                <a:cubicBezTo>
                  <a:pt x="255367" y="157520"/>
                  <a:pt x="260792" y="143455"/>
                  <a:pt x="265346" y="129056"/>
                </a:cubicBezTo>
                <a:cubicBezTo>
                  <a:pt x="268828" y="130061"/>
                  <a:pt x="272177" y="131132"/>
                  <a:pt x="275392" y="132204"/>
                </a:cubicBezTo>
                <a:cubicBezTo>
                  <a:pt x="306601" y="142920"/>
                  <a:pt x="328501" y="158859"/>
                  <a:pt x="328501" y="171048"/>
                </a:cubicBezTo>
                <a:cubicBezTo>
                  <a:pt x="328501" y="184175"/>
                  <a:pt x="305127" y="201119"/>
                  <a:pt x="271708" y="212169"/>
                </a:cubicBezTo>
                <a:close/>
                <a:moveTo>
                  <a:pt x="171450" y="202123"/>
                </a:moveTo>
                <a:cubicBezTo>
                  <a:pt x="188379" y="202123"/>
                  <a:pt x="202123" y="188379"/>
                  <a:pt x="202123" y="171450"/>
                </a:cubicBezTo>
                <a:cubicBezTo>
                  <a:pt x="202123" y="154521"/>
                  <a:pt x="188379" y="140777"/>
                  <a:pt x="171450" y="140777"/>
                </a:cubicBezTo>
                <a:cubicBezTo>
                  <a:pt x="154521" y="140777"/>
                  <a:pt x="140777" y="154521"/>
                  <a:pt x="140777" y="171450"/>
                </a:cubicBezTo>
                <a:cubicBezTo>
                  <a:pt x="140777" y="188379"/>
                  <a:pt x="154521" y="202123"/>
                  <a:pt x="171450" y="202123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3838575" y="3630932"/>
            <a:ext cx="1847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48100" y="397383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Captura evento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 envía datos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 modelo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91200" y="3345182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9" name="Shape 17"/>
          <p:cNvSpPr/>
          <p:nvPr/>
        </p:nvSpPr>
        <p:spPr>
          <a:xfrm>
            <a:off x="6000750" y="344043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0" name="Shape 18"/>
          <p:cNvSpPr/>
          <p:nvPr/>
        </p:nvSpPr>
        <p:spPr>
          <a:xfrm>
            <a:off x="5791200" y="3707132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1" name="Shape 19"/>
          <p:cNvSpPr/>
          <p:nvPr/>
        </p:nvSpPr>
        <p:spPr>
          <a:xfrm>
            <a:off x="6903720" y="2419350"/>
            <a:ext cx="1053465" cy="1053465"/>
          </a:xfrm>
          <a:custGeom>
            <a:avLst/>
            <a:gdLst/>
            <a:ahLst/>
            <a:cxnLst/>
            <a:rect l="l" t="t" r="r" b="b"/>
            <a:pathLst>
              <a:path w="1053465" h="1053465">
                <a:moveTo>
                  <a:pt x="0" y="0"/>
                </a:moveTo>
                <a:lnTo>
                  <a:pt x="1053465" y="0"/>
                </a:lnTo>
                <a:lnTo>
                  <a:pt x="1053465" y="1053465"/>
                </a:lnTo>
                <a:lnTo>
                  <a:pt x="0" y="105346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8B86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58050" y="2773682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80367" y="37505"/>
                </a:moveTo>
                <a:cubicBezTo>
                  <a:pt x="80367" y="16810"/>
                  <a:pt x="97177" y="0"/>
                  <a:pt x="117872" y="0"/>
                </a:cubicBezTo>
                <a:lnTo>
                  <a:pt x="133945" y="0"/>
                </a:lnTo>
                <a:cubicBezTo>
                  <a:pt x="145799" y="0"/>
                  <a:pt x="155377" y="9577"/>
                  <a:pt x="155377" y="21431"/>
                </a:cubicBezTo>
                <a:lnTo>
                  <a:pt x="155377" y="321469"/>
                </a:lnTo>
                <a:cubicBezTo>
                  <a:pt x="155377" y="333323"/>
                  <a:pt x="145799" y="342900"/>
                  <a:pt x="133945" y="342900"/>
                </a:cubicBezTo>
                <a:lnTo>
                  <a:pt x="112514" y="342900"/>
                </a:lnTo>
                <a:cubicBezTo>
                  <a:pt x="92556" y="342900"/>
                  <a:pt x="75746" y="329238"/>
                  <a:pt x="70991" y="310753"/>
                </a:cubicBezTo>
                <a:cubicBezTo>
                  <a:pt x="70522" y="310753"/>
                  <a:pt x="70120" y="310753"/>
                  <a:pt x="69652" y="310753"/>
                </a:cubicBezTo>
                <a:cubicBezTo>
                  <a:pt x="40050" y="310753"/>
                  <a:pt x="16073" y="286777"/>
                  <a:pt x="16073" y="257175"/>
                </a:cubicBezTo>
                <a:cubicBezTo>
                  <a:pt x="16073" y="245120"/>
                  <a:pt x="20092" y="234002"/>
                  <a:pt x="26789" y="225028"/>
                </a:cubicBezTo>
                <a:cubicBezTo>
                  <a:pt x="13796" y="215250"/>
                  <a:pt x="5358" y="199712"/>
                  <a:pt x="5358" y="182166"/>
                </a:cubicBezTo>
                <a:cubicBezTo>
                  <a:pt x="5358" y="161471"/>
                  <a:pt x="17145" y="143455"/>
                  <a:pt x="34290" y="134548"/>
                </a:cubicBezTo>
                <a:cubicBezTo>
                  <a:pt x="29535" y="126511"/>
                  <a:pt x="26789" y="117135"/>
                  <a:pt x="26789" y="107156"/>
                </a:cubicBezTo>
                <a:cubicBezTo>
                  <a:pt x="26789" y="77554"/>
                  <a:pt x="50765" y="53578"/>
                  <a:pt x="80367" y="53578"/>
                </a:cubicBezTo>
                <a:lnTo>
                  <a:pt x="80367" y="37505"/>
                </a:lnTo>
                <a:close/>
                <a:moveTo>
                  <a:pt x="262533" y="37505"/>
                </a:moveTo>
                <a:lnTo>
                  <a:pt x="262533" y="53578"/>
                </a:lnTo>
                <a:cubicBezTo>
                  <a:pt x="292135" y="53578"/>
                  <a:pt x="316111" y="77554"/>
                  <a:pt x="316111" y="107156"/>
                </a:cubicBezTo>
                <a:cubicBezTo>
                  <a:pt x="316111" y="117202"/>
                  <a:pt x="313365" y="126578"/>
                  <a:pt x="308610" y="134548"/>
                </a:cubicBezTo>
                <a:cubicBezTo>
                  <a:pt x="325822" y="143455"/>
                  <a:pt x="337542" y="161404"/>
                  <a:pt x="337542" y="182166"/>
                </a:cubicBezTo>
                <a:cubicBezTo>
                  <a:pt x="337542" y="199712"/>
                  <a:pt x="329104" y="215250"/>
                  <a:pt x="316111" y="225028"/>
                </a:cubicBezTo>
                <a:cubicBezTo>
                  <a:pt x="322808" y="234002"/>
                  <a:pt x="326827" y="245120"/>
                  <a:pt x="326827" y="257175"/>
                </a:cubicBezTo>
                <a:cubicBezTo>
                  <a:pt x="326827" y="286777"/>
                  <a:pt x="302850" y="310753"/>
                  <a:pt x="273248" y="310753"/>
                </a:cubicBezTo>
                <a:cubicBezTo>
                  <a:pt x="272780" y="310753"/>
                  <a:pt x="272378" y="310753"/>
                  <a:pt x="271909" y="310753"/>
                </a:cubicBezTo>
                <a:cubicBezTo>
                  <a:pt x="267154" y="329238"/>
                  <a:pt x="250344" y="342900"/>
                  <a:pt x="230386" y="342900"/>
                </a:cubicBezTo>
                <a:lnTo>
                  <a:pt x="208955" y="342900"/>
                </a:lnTo>
                <a:cubicBezTo>
                  <a:pt x="197101" y="342900"/>
                  <a:pt x="187523" y="333323"/>
                  <a:pt x="187523" y="321469"/>
                </a:cubicBezTo>
                <a:lnTo>
                  <a:pt x="187523" y="21431"/>
                </a:lnTo>
                <a:cubicBezTo>
                  <a:pt x="187523" y="9577"/>
                  <a:pt x="197101" y="0"/>
                  <a:pt x="208955" y="0"/>
                </a:cubicBezTo>
                <a:lnTo>
                  <a:pt x="225028" y="0"/>
                </a:lnTo>
                <a:cubicBezTo>
                  <a:pt x="245723" y="0"/>
                  <a:pt x="262533" y="16810"/>
                  <a:pt x="262533" y="37505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3" name="Text 21"/>
          <p:cNvSpPr/>
          <p:nvPr/>
        </p:nvSpPr>
        <p:spPr>
          <a:xfrm>
            <a:off x="6505575" y="3630932"/>
            <a:ext cx="1847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TensorFlow.js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15100" y="397383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Procesa datos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 el navegador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 servidor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458200" y="3345182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6" name="Shape 24"/>
          <p:cNvSpPr/>
          <p:nvPr/>
        </p:nvSpPr>
        <p:spPr>
          <a:xfrm>
            <a:off x="8667750" y="344043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7" name="Shape 25"/>
          <p:cNvSpPr/>
          <p:nvPr/>
        </p:nvSpPr>
        <p:spPr>
          <a:xfrm>
            <a:off x="8458200" y="3707132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8" name="Shape 26"/>
          <p:cNvSpPr/>
          <p:nvPr/>
        </p:nvSpPr>
        <p:spPr>
          <a:xfrm>
            <a:off x="9570720" y="2419350"/>
            <a:ext cx="1053465" cy="1053465"/>
          </a:xfrm>
          <a:custGeom>
            <a:avLst/>
            <a:gdLst/>
            <a:ahLst/>
            <a:cxnLst/>
            <a:rect l="l" t="t" r="r" b="b"/>
            <a:pathLst>
              <a:path w="1053465" h="1053465">
                <a:moveTo>
                  <a:pt x="0" y="0"/>
                </a:moveTo>
                <a:lnTo>
                  <a:pt x="1053465" y="0"/>
                </a:lnTo>
                <a:lnTo>
                  <a:pt x="1053465" y="1053465"/>
                </a:lnTo>
                <a:lnTo>
                  <a:pt x="0" y="105346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1A1A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925050" y="2773682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21431" y="21431"/>
                </a:moveTo>
                <a:cubicBezTo>
                  <a:pt x="33285" y="21431"/>
                  <a:pt x="42863" y="31008"/>
                  <a:pt x="42863" y="42863"/>
                </a:cubicBezTo>
                <a:lnTo>
                  <a:pt x="42863" y="267891"/>
                </a:lnTo>
                <a:cubicBezTo>
                  <a:pt x="42863" y="273784"/>
                  <a:pt x="47685" y="278606"/>
                  <a:pt x="53578" y="278606"/>
                </a:cubicBezTo>
                <a:lnTo>
                  <a:pt x="321469" y="278606"/>
                </a:lnTo>
                <a:cubicBezTo>
                  <a:pt x="333323" y="278606"/>
                  <a:pt x="342900" y="288183"/>
                  <a:pt x="342900" y="300038"/>
                </a:cubicBezTo>
                <a:cubicBezTo>
                  <a:pt x="342900" y="311892"/>
                  <a:pt x="333323" y="321469"/>
                  <a:pt x="321469" y="321469"/>
                </a:cubicBezTo>
                <a:lnTo>
                  <a:pt x="53578" y="321469"/>
                </a:lnTo>
                <a:cubicBezTo>
                  <a:pt x="23976" y="321469"/>
                  <a:pt x="0" y="297493"/>
                  <a:pt x="0" y="267891"/>
                </a:cubicBezTo>
                <a:lnTo>
                  <a:pt x="0" y="42863"/>
                </a:lnTo>
                <a:cubicBezTo>
                  <a:pt x="0" y="31008"/>
                  <a:pt x="9577" y="21431"/>
                  <a:pt x="21431" y="21431"/>
                </a:cubicBezTo>
                <a:close/>
                <a:moveTo>
                  <a:pt x="85725" y="64294"/>
                </a:moveTo>
                <a:cubicBezTo>
                  <a:pt x="85725" y="52440"/>
                  <a:pt x="95302" y="42863"/>
                  <a:pt x="107156" y="42863"/>
                </a:cubicBezTo>
                <a:lnTo>
                  <a:pt x="235744" y="42863"/>
                </a:lnTo>
                <a:cubicBezTo>
                  <a:pt x="247598" y="42863"/>
                  <a:pt x="257175" y="52440"/>
                  <a:pt x="257175" y="64294"/>
                </a:cubicBezTo>
                <a:cubicBezTo>
                  <a:pt x="257175" y="76148"/>
                  <a:pt x="247598" y="85725"/>
                  <a:pt x="235744" y="85725"/>
                </a:cubicBezTo>
                <a:lnTo>
                  <a:pt x="107156" y="85725"/>
                </a:lnTo>
                <a:cubicBezTo>
                  <a:pt x="95302" y="85725"/>
                  <a:pt x="85725" y="76148"/>
                  <a:pt x="85725" y="64294"/>
                </a:cubicBezTo>
                <a:close/>
                <a:moveTo>
                  <a:pt x="107156" y="117872"/>
                </a:moveTo>
                <a:lnTo>
                  <a:pt x="192881" y="117872"/>
                </a:lnTo>
                <a:cubicBezTo>
                  <a:pt x="204735" y="117872"/>
                  <a:pt x="214313" y="127449"/>
                  <a:pt x="214313" y="139303"/>
                </a:cubicBezTo>
                <a:cubicBezTo>
                  <a:pt x="214313" y="151157"/>
                  <a:pt x="204735" y="160734"/>
                  <a:pt x="192881" y="160734"/>
                </a:cubicBezTo>
                <a:lnTo>
                  <a:pt x="107156" y="160734"/>
                </a:lnTo>
                <a:cubicBezTo>
                  <a:pt x="95302" y="160734"/>
                  <a:pt x="85725" y="151157"/>
                  <a:pt x="85725" y="139303"/>
                </a:cubicBezTo>
                <a:cubicBezTo>
                  <a:pt x="85725" y="127449"/>
                  <a:pt x="95302" y="117872"/>
                  <a:pt x="107156" y="117872"/>
                </a:cubicBezTo>
                <a:close/>
                <a:moveTo>
                  <a:pt x="107156" y="192881"/>
                </a:moveTo>
                <a:lnTo>
                  <a:pt x="278606" y="192881"/>
                </a:lnTo>
                <a:cubicBezTo>
                  <a:pt x="290460" y="192881"/>
                  <a:pt x="300038" y="202458"/>
                  <a:pt x="300038" y="214313"/>
                </a:cubicBezTo>
                <a:cubicBezTo>
                  <a:pt x="300038" y="226167"/>
                  <a:pt x="290460" y="235744"/>
                  <a:pt x="278606" y="235744"/>
                </a:cubicBezTo>
                <a:lnTo>
                  <a:pt x="107156" y="235744"/>
                </a:lnTo>
                <a:cubicBezTo>
                  <a:pt x="95302" y="235744"/>
                  <a:pt x="85725" y="226167"/>
                  <a:pt x="85725" y="214313"/>
                </a:cubicBezTo>
                <a:cubicBezTo>
                  <a:pt x="85725" y="202458"/>
                  <a:pt x="95302" y="192881"/>
                  <a:pt x="107156" y="192881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30" name="Text 28"/>
          <p:cNvSpPr/>
          <p:nvPr/>
        </p:nvSpPr>
        <p:spPr>
          <a:xfrm>
            <a:off x="9172575" y="3630932"/>
            <a:ext cx="1847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Resultado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82100" y="397383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actualiza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UI con la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predicción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81000" y="5516879"/>
            <a:ext cx="3657600" cy="15240"/>
          </a:xfrm>
          <a:custGeom>
            <a:avLst/>
            <a:gdLst/>
            <a:ahLst/>
            <a:cxnLst/>
            <a:rect l="l" t="t" r="r" b="b"/>
            <a:pathLst>
              <a:path w="3657600" h="15240">
                <a:moveTo>
                  <a:pt x="0" y="0"/>
                </a:moveTo>
                <a:lnTo>
                  <a:pt x="3657600" y="0"/>
                </a:lnTo>
                <a:lnTo>
                  <a:pt x="3657600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3" name="Shape 31"/>
          <p:cNvSpPr/>
          <p:nvPr/>
        </p:nvSpPr>
        <p:spPr>
          <a:xfrm>
            <a:off x="404813" y="57245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4" name="Text 32"/>
          <p:cNvSpPr/>
          <p:nvPr/>
        </p:nvSpPr>
        <p:spPr>
          <a:xfrm>
            <a:off x="600075" y="5676900"/>
            <a:ext cx="3524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Todo en el Navegador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81000" y="6019800"/>
            <a:ext cx="373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necesitas backend para la IA. El procesamiento ocurre localmente en el cliente.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267200" y="5516879"/>
            <a:ext cx="3657600" cy="15240"/>
          </a:xfrm>
          <a:custGeom>
            <a:avLst/>
            <a:gdLst/>
            <a:ahLst/>
            <a:cxnLst/>
            <a:rect l="l" t="t" r="r" b="b"/>
            <a:pathLst>
              <a:path w="3657600" h="15240">
                <a:moveTo>
                  <a:pt x="0" y="0"/>
                </a:moveTo>
                <a:lnTo>
                  <a:pt x="3657600" y="0"/>
                </a:lnTo>
                <a:lnTo>
                  <a:pt x="3657600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37" name="Shape 35"/>
          <p:cNvSpPr/>
          <p:nvPr/>
        </p:nvSpPr>
        <p:spPr>
          <a:xfrm>
            <a:off x="4280297" y="57245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60902" y="3449"/>
                </a:moveTo>
                <a:lnTo>
                  <a:pt x="86763" y="52908"/>
                </a:lnTo>
                <a:cubicBezTo>
                  <a:pt x="77019" y="59405"/>
                  <a:pt x="70824" y="69953"/>
                  <a:pt x="69819" y="81472"/>
                </a:cubicBezTo>
                <a:cubicBezTo>
                  <a:pt x="90681" y="85758"/>
                  <a:pt x="107123" y="102200"/>
                  <a:pt x="111443" y="123096"/>
                </a:cubicBezTo>
                <a:cubicBezTo>
                  <a:pt x="122995" y="122091"/>
                  <a:pt x="133510" y="115896"/>
                  <a:pt x="140006" y="106152"/>
                </a:cubicBezTo>
                <a:lnTo>
                  <a:pt x="189432" y="31979"/>
                </a:lnTo>
                <a:cubicBezTo>
                  <a:pt x="191676" y="28597"/>
                  <a:pt x="192881" y="24646"/>
                  <a:pt x="192881" y="20561"/>
                </a:cubicBezTo>
                <a:cubicBezTo>
                  <a:pt x="192881" y="9209"/>
                  <a:pt x="183673" y="0"/>
                  <a:pt x="172321" y="0"/>
                </a:cubicBezTo>
                <a:cubicBezTo>
                  <a:pt x="168269" y="0"/>
                  <a:pt x="164284" y="1206"/>
                  <a:pt x="160902" y="3449"/>
                </a:cubicBezTo>
                <a:close/>
                <a:moveTo>
                  <a:pt x="96441" y="133945"/>
                </a:moveTo>
                <a:cubicBezTo>
                  <a:pt x="96441" y="113217"/>
                  <a:pt x="79664" y="96441"/>
                  <a:pt x="58936" y="96441"/>
                </a:cubicBezTo>
                <a:cubicBezTo>
                  <a:pt x="38208" y="96441"/>
                  <a:pt x="21431" y="113217"/>
                  <a:pt x="21431" y="133945"/>
                </a:cubicBezTo>
                <a:cubicBezTo>
                  <a:pt x="21431" y="135251"/>
                  <a:pt x="21498" y="136557"/>
                  <a:pt x="21632" y="137830"/>
                </a:cubicBezTo>
                <a:cubicBezTo>
                  <a:pt x="22235" y="143690"/>
                  <a:pt x="18217" y="150019"/>
                  <a:pt x="12323" y="150019"/>
                </a:cubicBezTo>
                <a:lnTo>
                  <a:pt x="10716" y="150019"/>
                </a:lnTo>
                <a:cubicBezTo>
                  <a:pt x="4789" y="150019"/>
                  <a:pt x="0" y="154807"/>
                  <a:pt x="0" y="160734"/>
                </a:cubicBezTo>
                <a:cubicBezTo>
                  <a:pt x="0" y="166661"/>
                  <a:pt x="4789" y="171450"/>
                  <a:pt x="10716" y="171450"/>
                </a:cubicBezTo>
                <a:lnTo>
                  <a:pt x="58936" y="171450"/>
                </a:lnTo>
                <a:cubicBezTo>
                  <a:pt x="79664" y="171450"/>
                  <a:pt x="96441" y="154673"/>
                  <a:pt x="96441" y="133945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8" name="Text 36"/>
          <p:cNvSpPr/>
          <p:nvPr/>
        </p:nvSpPr>
        <p:spPr>
          <a:xfrm>
            <a:off x="4486275" y="5676900"/>
            <a:ext cx="3524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Maneja la UI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267200" y="6019800"/>
            <a:ext cx="373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Gestiona el estado de la predicción y presenta los resultados de forma interactiva.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153400" y="5516879"/>
            <a:ext cx="3657600" cy="15240"/>
          </a:xfrm>
          <a:custGeom>
            <a:avLst/>
            <a:gdLst/>
            <a:ahLst/>
            <a:cxnLst/>
            <a:rect l="l" t="t" r="r" b="b"/>
            <a:pathLst>
              <a:path w="3657600" h="15240">
                <a:moveTo>
                  <a:pt x="0" y="0"/>
                </a:moveTo>
                <a:lnTo>
                  <a:pt x="3657600" y="0"/>
                </a:lnTo>
                <a:lnTo>
                  <a:pt x="3657600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41" name="Shape 39"/>
          <p:cNvSpPr/>
          <p:nvPr/>
        </p:nvSpPr>
        <p:spPr>
          <a:xfrm>
            <a:off x="8187928" y="57245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13452" y="-3315"/>
                </a:moveTo>
                <a:cubicBezTo>
                  <a:pt x="117437" y="-435"/>
                  <a:pt x="118910" y="4789"/>
                  <a:pt x="117102" y="9343"/>
                </a:cubicBezTo>
                <a:lnTo>
                  <a:pt x="90848" y="75009"/>
                </a:lnTo>
                <a:lnTo>
                  <a:pt x="139303" y="75009"/>
                </a:lnTo>
                <a:cubicBezTo>
                  <a:pt x="143824" y="75009"/>
                  <a:pt x="147842" y="77822"/>
                  <a:pt x="149383" y="82075"/>
                </a:cubicBezTo>
                <a:cubicBezTo>
                  <a:pt x="150923" y="86328"/>
                  <a:pt x="149617" y="91083"/>
                  <a:pt x="146168" y="93963"/>
                </a:cubicBezTo>
                <a:lnTo>
                  <a:pt x="49727" y="174330"/>
                </a:lnTo>
                <a:cubicBezTo>
                  <a:pt x="45943" y="177478"/>
                  <a:pt x="40552" y="177645"/>
                  <a:pt x="36567" y="174765"/>
                </a:cubicBezTo>
                <a:cubicBezTo>
                  <a:pt x="32582" y="171885"/>
                  <a:pt x="31109" y="166661"/>
                  <a:pt x="32917" y="162107"/>
                </a:cubicBezTo>
                <a:lnTo>
                  <a:pt x="59170" y="96441"/>
                </a:lnTo>
                <a:lnTo>
                  <a:pt x="10716" y="96441"/>
                </a:lnTo>
                <a:cubicBezTo>
                  <a:pt x="6195" y="96441"/>
                  <a:pt x="2177" y="93628"/>
                  <a:pt x="636" y="89375"/>
                </a:cubicBezTo>
                <a:cubicBezTo>
                  <a:pt x="-904" y="85122"/>
                  <a:pt x="402" y="80367"/>
                  <a:pt x="3851" y="77487"/>
                </a:cubicBezTo>
                <a:lnTo>
                  <a:pt x="100292" y="-2880"/>
                </a:lnTo>
                <a:cubicBezTo>
                  <a:pt x="104076" y="-6028"/>
                  <a:pt x="109467" y="-6195"/>
                  <a:pt x="113452" y="-3315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42" name="Text 40"/>
          <p:cNvSpPr/>
          <p:nvPr/>
        </p:nvSpPr>
        <p:spPr>
          <a:xfrm>
            <a:off x="8372475" y="5676900"/>
            <a:ext cx="3524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TensorFlow.js es el Cerebro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153400" y="6019800"/>
            <a:ext cx="373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Hace las predicciones, clasificaciones y análisis de datos en tiempo real.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d6cd8b40a91d168e0ae05a17f3a7a862b05d2423.jpg"/>
          <p:cNvPicPr>
            <a:picLocks noChangeAspect="1"/>
          </p:cNvPicPr>
          <p:nvPr/>
        </p:nvPicPr>
        <p:blipFill>
          <a:blip r:embed="rId3">
            <a:alphaModFix amt="4000"/>
          </a:blip>
          <a:srcRect l="29259" r="29259"/>
          <a:stretch/>
        </p:blipFill>
        <p:spPr>
          <a:xfrm>
            <a:off x="7924800" y="0"/>
            <a:ext cx="42672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381000" y="466725"/>
            <a:ext cx="457200" cy="19050"/>
          </a:xfrm>
          <a:custGeom>
            <a:avLst/>
            <a:gdLst/>
            <a:ahLst/>
            <a:cxnLst/>
            <a:rect l="l" t="t" r="r" b="b"/>
            <a:pathLst>
              <a:path w="457200" h="19050">
                <a:moveTo>
                  <a:pt x="0" y="0"/>
                </a:moveTo>
                <a:lnTo>
                  <a:pt x="457200" y="0"/>
                </a:lnTo>
                <a:lnTo>
                  <a:pt x="4572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4" name="Text 1"/>
          <p:cNvSpPr/>
          <p:nvPr/>
        </p:nvSpPr>
        <p:spPr>
          <a:xfrm>
            <a:off x="990600" y="381000"/>
            <a:ext cx="99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315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MODELOS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723900"/>
            <a:ext cx="11658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Tipos de Modelos de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Inteligencia Artificial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8620" y="2095500"/>
            <a:ext cx="15240" cy="3838575"/>
          </a:xfrm>
          <a:custGeom>
            <a:avLst/>
            <a:gdLst/>
            <a:ahLst/>
            <a:cxnLst/>
            <a:rect l="l" t="t" r="r" b="b"/>
            <a:pathLst>
              <a:path w="15240" h="3838575">
                <a:moveTo>
                  <a:pt x="0" y="0"/>
                </a:moveTo>
                <a:lnTo>
                  <a:pt x="15240" y="0"/>
                </a:lnTo>
                <a:lnTo>
                  <a:pt x="15240" y="3838575"/>
                </a:lnTo>
                <a:lnTo>
                  <a:pt x="0" y="383857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7" name="Shape 4"/>
          <p:cNvSpPr/>
          <p:nvPr/>
        </p:nvSpPr>
        <p:spPr>
          <a:xfrm>
            <a:off x="624840" y="217158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8" name="Shape 5"/>
          <p:cNvSpPr/>
          <p:nvPr/>
        </p:nvSpPr>
        <p:spPr>
          <a:xfrm>
            <a:off x="770096" y="2304934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47625" y="41672"/>
                </a:moveTo>
                <a:cubicBezTo>
                  <a:pt x="57482" y="41672"/>
                  <a:pt x="65484" y="49674"/>
                  <a:pt x="65484" y="59531"/>
                </a:cubicBezTo>
                <a:cubicBezTo>
                  <a:pt x="65484" y="69388"/>
                  <a:pt x="57482" y="77391"/>
                  <a:pt x="47625" y="77391"/>
                </a:cubicBezTo>
                <a:cubicBezTo>
                  <a:pt x="37768" y="77391"/>
                  <a:pt x="29766" y="69388"/>
                  <a:pt x="29766" y="59531"/>
                </a:cubicBezTo>
                <a:cubicBezTo>
                  <a:pt x="29766" y="49674"/>
                  <a:pt x="37768" y="41672"/>
                  <a:pt x="47625" y="41672"/>
                </a:cubicBezTo>
                <a:close/>
                <a:moveTo>
                  <a:pt x="101203" y="83344"/>
                </a:moveTo>
                <a:cubicBezTo>
                  <a:pt x="104329" y="83344"/>
                  <a:pt x="107193" y="84981"/>
                  <a:pt x="108831" y="87623"/>
                </a:cubicBezTo>
                <a:lnTo>
                  <a:pt x="141573" y="141201"/>
                </a:lnTo>
                <a:cubicBezTo>
                  <a:pt x="143247" y="143954"/>
                  <a:pt x="143321" y="147414"/>
                  <a:pt x="141759" y="150242"/>
                </a:cubicBezTo>
                <a:cubicBezTo>
                  <a:pt x="140196" y="153070"/>
                  <a:pt x="137182" y="154781"/>
                  <a:pt x="133945" y="154781"/>
                </a:cubicBezTo>
                <a:lnTo>
                  <a:pt x="32742" y="154781"/>
                </a:lnTo>
                <a:cubicBezTo>
                  <a:pt x="29431" y="154781"/>
                  <a:pt x="26343" y="152921"/>
                  <a:pt x="24817" y="149982"/>
                </a:cubicBezTo>
                <a:cubicBezTo>
                  <a:pt x="23292" y="147042"/>
                  <a:pt x="23515" y="143470"/>
                  <a:pt x="25412" y="140754"/>
                </a:cubicBezTo>
                <a:lnTo>
                  <a:pt x="46248" y="110989"/>
                </a:lnTo>
                <a:cubicBezTo>
                  <a:pt x="47923" y="108607"/>
                  <a:pt x="50639" y="107193"/>
                  <a:pt x="53578" y="107193"/>
                </a:cubicBezTo>
                <a:cubicBezTo>
                  <a:pt x="56517" y="107193"/>
                  <a:pt x="59234" y="108607"/>
                  <a:pt x="60908" y="110989"/>
                </a:cubicBezTo>
                <a:lnTo>
                  <a:pt x="70731" y="125053"/>
                </a:lnTo>
                <a:lnTo>
                  <a:pt x="93576" y="87660"/>
                </a:lnTo>
                <a:cubicBezTo>
                  <a:pt x="95213" y="85018"/>
                  <a:pt x="98078" y="83381"/>
                  <a:pt x="101203" y="83381"/>
                </a:cubicBez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9" name="Text 6"/>
          <p:cNvSpPr/>
          <p:nvPr/>
        </p:nvSpPr>
        <p:spPr>
          <a:xfrm>
            <a:off x="1196340" y="2095500"/>
            <a:ext cx="1409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Clasificación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 Imágenes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24840" y="2857263"/>
            <a:ext cx="3438525" cy="132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Identifican objetos, personas, escenas o patrones en fotos y videos. Procesan píxeles para reconocer características visuales.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24840" y="4335782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Arquitecturas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24840" y="4564382"/>
            <a:ext cx="34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CNN, MobileNet, ResNet, VGG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24840" y="4907282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Modelos TF.js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24840" y="5135882"/>
            <a:ext cx="34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MobileNet, Coco SSD, BodyPix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24840" y="5478782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Casos de uso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24840" y="5707382"/>
            <a:ext cx="34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E-commerce, salud, seguridad, agricultura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300180" y="2095500"/>
            <a:ext cx="15240" cy="3838575"/>
          </a:xfrm>
          <a:custGeom>
            <a:avLst/>
            <a:gdLst/>
            <a:ahLst/>
            <a:cxnLst/>
            <a:rect l="l" t="t" r="r" b="b"/>
            <a:pathLst>
              <a:path w="15240" h="3838575">
                <a:moveTo>
                  <a:pt x="0" y="0"/>
                </a:moveTo>
                <a:lnTo>
                  <a:pt x="15240" y="0"/>
                </a:lnTo>
                <a:lnTo>
                  <a:pt x="15240" y="3838575"/>
                </a:lnTo>
                <a:lnTo>
                  <a:pt x="0" y="3838575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8" name="Shape 15"/>
          <p:cNvSpPr/>
          <p:nvPr/>
        </p:nvSpPr>
        <p:spPr>
          <a:xfrm>
            <a:off x="4536400" y="217158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9" name="Shape 16"/>
          <p:cNvSpPr/>
          <p:nvPr/>
        </p:nvSpPr>
        <p:spPr>
          <a:xfrm>
            <a:off x="4669750" y="230493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130969"/>
                </a:moveTo>
                <a:lnTo>
                  <a:pt x="0" y="47625"/>
                </a:lnTo>
                <a:cubicBezTo>
                  <a:pt x="0" y="27905"/>
                  <a:pt x="15999" y="11906"/>
                  <a:pt x="35719" y="11906"/>
                </a:cubicBezTo>
                <a:lnTo>
                  <a:pt x="154781" y="11906"/>
                </a:lnTo>
                <a:cubicBezTo>
                  <a:pt x="174501" y="11906"/>
                  <a:pt x="190500" y="27905"/>
                  <a:pt x="190500" y="47625"/>
                </a:cubicBezTo>
                <a:lnTo>
                  <a:pt x="190500" y="130969"/>
                </a:lnTo>
                <a:cubicBezTo>
                  <a:pt x="190500" y="150688"/>
                  <a:pt x="174501" y="166688"/>
                  <a:pt x="154781" y="166688"/>
                </a:cubicBezTo>
                <a:lnTo>
                  <a:pt x="110133" y="166688"/>
                </a:lnTo>
                <a:cubicBezTo>
                  <a:pt x="108198" y="166688"/>
                  <a:pt x="106338" y="167320"/>
                  <a:pt x="104775" y="168473"/>
                </a:cubicBezTo>
                <a:lnTo>
                  <a:pt x="61913" y="200620"/>
                </a:lnTo>
                <a:cubicBezTo>
                  <a:pt x="60350" y="201774"/>
                  <a:pt x="58489" y="202406"/>
                  <a:pt x="56555" y="202406"/>
                </a:cubicBezTo>
                <a:cubicBezTo>
                  <a:pt x="51606" y="202406"/>
                  <a:pt x="47625" y="198425"/>
                  <a:pt x="47625" y="193477"/>
                </a:cubicBezTo>
                <a:lnTo>
                  <a:pt x="47625" y="166688"/>
                </a:lnTo>
                <a:lnTo>
                  <a:pt x="35719" y="166688"/>
                </a:lnTo>
                <a:cubicBezTo>
                  <a:pt x="15999" y="166688"/>
                  <a:pt x="0" y="150688"/>
                  <a:pt x="0" y="130969"/>
                </a:cubicBez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20" name="Text 17"/>
          <p:cNvSpPr/>
          <p:nvPr/>
        </p:nvSpPr>
        <p:spPr>
          <a:xfrm>
            <a:off x="5107900" y="2095500"/>
            <a:ext cx="18192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Análisis de Texto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 Sentimientos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536400" y="2857263"/>
            <a:ext cx="3438525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Modelos de NLP que comprenden texto humano para identificar emociones, intenciones, temas o polaridad.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536400" y="4107182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Arquitecturas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536400" y="4335782"/>
            <a:ext cx="34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Transformers (BERT, GPT), LSTM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536400" y="4678682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Modelos TF.js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36400" y="4907282"/>
            <a:ext cx="34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Universal Sentence Encoder, Toxicity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536400" y="5250182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Casos de uso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536400" y="5478782"/>
            <a:ext cx="3438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Moderación, análisis de reseñas, atención al cliente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211741" y="2095500"/>
            <a:ext cx="15240" cy="3838575"/>
          </a:xfrm>
          <a:custGeom>
            <a:avLst/>
            <a:gdLst/>
            <a:ahLst/>
            <a:cxnLst/>
            <a:rect l="l" t="t" r="r" b="b"/>
            <a:pathLst>
              <a:path w="15240" h="3838575">
                <a:moveTo>
                  <a:pt x="0" y="0"/>
                </a:moveTo>
                <a:lnTo>
                  <a:pt x="15240" y="0"/>
                </a:lnTo>
                <a:lnTo>
                  <a:pt x="15240" y="3838575"/>
                </a:lnTo>
                <a:lnTo>
                  <a:pt x="0" y="383857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9" name="Shape 26"/>
          <p:cNvSpPr/>
          <p:nvPr/>
        </p:nvSpPr>
        <p:spPr>
          <a:xfrm>
            <a:off x="8447961" y="217158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0" name="Shape 27"/>
          <p:cNvSpPr/>
          <p:nvPr/>
        </p:nvSpPr>
        <p:spPr>
          <a:xfrm>
            <a:off x="8581311" y="230493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31" name="Text 28"/>
          <p:cNvSpPr/>
          <p:nvPr/>
        </p:nvSpPr>
        <p:spPr>
          <a:xfrm>
            <a:off x="9019461" y="2095500"/>
            <a:ext cx="141922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Predicciones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Numéricas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8447961" y="2857263"/>
            <a:ext cx="3438525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Predicen valores continuos o secuencias futuras basándose en datos históricos, considerando dependencias temporales.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8447961" y="4107182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Arquitecturas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447961" y="4335782"/>
            <a:ext cx="34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LSTM, GRU, Regresión, ARIMA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8447961" y="4678682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Tipos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8447961" y="4907282"/>
            <a:ext cx="34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Regresión numérica, series temporales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8447961" y="5250182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Casos de uso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8447961" y="5478782"/>
            <a:ext cx="3438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Forecasting de ventas, precios, demanda energética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381000" y="6092192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30196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342900" y="62484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TensorFlow.js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ofrece modelos pre-entrenados listos para usar en estas tres categorías principales.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257296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504946"/>
            <a:ext cx="463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315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CASOS PRÁCTICOS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47846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Aplicaciones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2219446"/>
            <a:ext cx="466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+ TensorFlow.js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8620" y="2790946"/>
            <a:ext cx="15240" cy="1790700"/>
          </a:xfrm>
          <a:custGeom>
            <a:avLst/>
            <a:gdLst/>
            <a:ahLst/>
            <a:cxnLst/>
            <a:rect l="l" t="t" r="r" b="b"/>
            <a:pathLst>
              <a:path w="15240" h="1790700">
                <a:moveTo>
                  <a:pt x="0" y="0"/>
                </a:moveTo>
                <a:lnTo>
                  <a:pt x="15240" y="0"/>
                </a:lnTo>
                <a:lnTo>
                  <a:pt x="15240" y="1790700"/>
                </a:lnTo>
                <a:lnTo>
                  <a:pt x="0" y="17907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7" name="Text 5"/>
          <p:cNvSpPr/>
          <p:nvPr/>
        </p:nvSpPr>
        <p:spPr>
          <a:xfrm>
            <a:off x="624840" y="2790946"/>
            <a:ext cx="4438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Dashboards de Datos con 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4840" y="3209925"/>
            <a:ext cx="4400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Muestran datos dinámicos y usan modelos de IA para análisis y predicciones en tiempo real.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4840" y="3819525"/>
            <a:ext cx="4400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Predicción de ventas con series temporales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4840" y="4086225"/>
            <a:ext cx="4400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Monitorización de salud con sensores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4840" y="4352925"/>
            <a:ext cx="4400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Visualización de métricas con forecasting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8620" y="4810125"/>
            <a:ext cx="15240" cy="1790700"/>
          </a:xfrm>
          <a:custGeom>
            <a:avLst/>
            <a:gdLst/>
            <a:ahLst/>
            <a:cxnLst/>
            <a:rect l="l" t="t" r="r" b="b"/>
            <a:pathLst>
              <a:path w="15240" h="1790700">
                <a:moveTo>
                  <a:pt x="0" y="0"/>
                </a:moveTo>
                <a:lnTo>
                  <a:pt x="15240" y="0"/>
                </a:lnTo>
                <a:lnTo>
                  <a:pt x="15240" y="1790700"/>
                </a:lnTo>
                <a:lnTo>
                  <a:pt x="0" y="17907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3" name="Text 11"/>
          <p:cNvSpPr/>
          <p:nvPr/>
        </p:nvSpPr>
        <p:spPr>
          <a:xfrm>
            <a:off x="624840" y="4810125"/>
            <a:ext cx="4438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Chatbots Web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4840" y="5229109"/>
            <a:ext cx="4400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Interactúan con usuarios directamente desde la web usando NLP.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4840" y="5838709"/>
            <a:ext cx="4400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Asistentes virtuales para e-commerce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4840" y="6105409"/>
            <a:ext cx="4400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Bots educativos para estudiantes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840" y="6372109"/>
            <a:ext cx="4400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Soporte médico con análisis de síntomas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17820" y="238246"/>
            <a:ext cx="15240" cy="2457450"/>
          </a:xfrm>
          <a:custGeom>
            <a:avLst/>
            <a:gdLst/>
            <a:ahLst/>
            <a:cxnLst/>
            <a:rect l="l" t="t" r="r" b="b"/>
            <a:pathLst>
              <a:path w="15240" h="2457450">
                <a:moveTo>
                  <a:pt x="0" y="0"/>
                </a:moveTo>
                <a:lnTo>
                  <a:pt x="15240" y="0"/>
                </a:lnTo>
                <a:lnTo>
                  <a:pt x="15240" y="2457450"/>
                </a:lnTo>
                <a:lnTo>
                  <a:pt x="0" y="24574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9" name="Text 17"/>
          <p:cNvSpPr/>
          <p:nvPr/>
        </p:nvSpPr>
        <p:spPr>
          <a:xfrm>
            <a:off x="5730240" y="238246"/>
            <a:ext cx="6191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Aplicaciones Educativas con IA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30240" y="695325"/>
            <a:ext cx="6153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Personalizan el aprendizaje y ofrecen feedback adaptativo en tiempo real.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43337" y="11334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6073" y="65566"/>
                </a:moveTo>
                <a:lnTo>
                  <a:pt x="86127" y="94398"/>
                </a:lnTo>
                <a:cubicBezTo>
                  <a:pt x="89408" y="95737"/>
                  <a:pt x="92891" y="96441"/>
                  <a:pt x="96441" y="96441"/>
                </a:cubicBezTo>
                <a:cubicBezTo>
                  <a:pt x="99990" y="96441"/>
                  <a:pt x="103473" y="95737"/>
                  <a:pt x="106754" y="94398"/>
                </a:cubicBezTo>
                <a:lnTo>
                  <a:pt x="187925" y="60979"/>
                </a:lnTo>
                <a:cubicBezTo>
                  <a:pt x="190939" y="59740"/>
                  <a:pt x="192881" y="56826"/>
                  <a:pt x="192881" y="53578"/>
                </a:cubicBezTo>
                <a:cubicBezTo>
                  <a:pt x="192881" y="50330"/>
                  <a:pt x="190939" y="47417"/>
                  <a:pt x="187925" y="46178"/>
                </a:cubicBezTo>
                <a:lnTo>
                  <a:pt x="106754" y="12758"/>
                </a:lnTo>
                <a:cubicBezTo>
                  <a:pt x="103473" y="11419"/>
                  <a:pt x="99990" y="10716"/>
                  <a:pt x="96441" y="10716"/>
                </a:cubicBezTo>
                <a:cubicBezTo>
                  <a:pt x="92891" y="10716"/>
                  <a:pt x="89408" y="11419"/>
                  <a:pt x="86127" y="12758"/>
                </a:cubicBezTo>
                <a:lnTo>
                  <a:pt x="4956" y="46178"/>
                </a:lnTo>
                <a:cubicBezTo>
                  <a:pt x="1942" y="47417"/>
                  <a:pt x="0" y="50330"/>
                  <a:pt x="0" y="53578"/>
                </a:cubicBezTo>
                <a:lnTo>
                  <a:pt x="0" y="152698"/>
                </a:lnTo>
                <a:cubicBezTo>
                  <a:pt x="0" y="157151"/>
                  <a:pt x="3583" y="160734"/>
                  <a:pt x="8037" y="160734"/>
                </a:cubicBezTo>
                <a:cubicBezTo>
                  <a:pt x="12490" y="160734"/>
                  <a:pt x="16073" y="157151"/>
                  <a:pt x="16073" y="152698"/>
                </a:cubicBezTo>
                <a:lnTo>
                  <a:pt x="16073" y="65566"/>
                </a:lnTo>
                <a:close/>
                <a:moveTo>
                  <a:pt x="32147" y="89576"/>
                </a:moveTo>
                <a:lnTo>
                  <a:pt x="32147" y="128588"/>
                </a:lnTo>
                <a:cubicBezTo>
                  <a:pt x="32147" y="146335"/>
                  <a:pt x="60945" y="160734"/>
                  <a:pt x="96441" y="160734"/>
                </a:cubicBezTo>
                <a:cubicBezTo>
                  <a:pt x="131936" y="160734"/>
                  <a:pt x="160734" y="146335"/>
                  <a:pt x="160734" y="128588"/>
                </a:cubicBezTo>
                <a:lnTo>
                  <a:pt x="160734" y="89542"/>
                </a:lnTo>
                <a:lnTo>
                  <a:pt x="112882" y="109266"/>
                </a:lnTo>
                <a:cubicBezTo>
                  <a:pt x="107659" y="111409"/>
                  <a:pt x="102100" y="112514"/>
                  <a:pt x="96441" y="112514"/>
                </a:cubicBezTo>
                <a:cubicBezTo>
                  <a:pt x="90781" y="112514"/>
                  <a:pt x="85223" y="111409"/>
                  <a:pt x="79999" y="109266"/>
                </a:cubicBezTo>
                <a:lnTo>
                  <a:pt x="32147" y="89542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2" name="Text 20"/>
          <p:cNvSpPr/>
          <p:nvPr/>
        </p:nvSpPr>
        <p:spPr>
          <a:xfrm>
            <a:off x="6058853" y="1095375"/>
            <a:ext cx="2505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Tutores inteligentes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58853" y="1323975"/>
            <a:ext cx="2505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Ajustan dificultad según desempeño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54053" y="17049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5" name="Text 23"/>
          <p:cNvSpPr/>
          <p:nvPr/>
        </p:nvSpPr>
        <p:spPr>
          <a:xfrm>
            <a:off x="6058853" y="1666875"/>
            <a:ext cx="2219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Evaluación automática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58853" y="1895475"/>
            <a:ext cx="2219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Corrección de ejercicios con ML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754053" y="22764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0702" y="29167"/>
                </a:moveTo>
                <a:lnTo>
                  <a:pt x="85725" y="36098"/>
                </a:lnTo>
                <a:lnTo>
                  <a:pt x="90748" y="29167"/>
                </a:lnTo>
                <a:cubicBezTo>
                  <a:pt x="99120" y="17580"/>
                  <a:pt x="112581" y="10716"/>
                  <a:pt x="126880" y="10716"/>
                </a:cubicBezTo>
                <a:cubicBezTo>
                  <a:pt x="151492" y="10716"/>
                  <a:pt x="171450" y="30673"/>
                  <a:pt x="171450" y="55286"/>
                </a:cubicBezTo>
                <a:lnTo>
                  <a:pt x="171450" y="56157"/>
                </a:lnTo>
                <a:cubicBezTo>
                  <a:pt x="171450" y="93728"/>
                  <a:pt x="124603" y="137361"/>
                  <a:pt x="100158" y="156013"/>
                </a:cubicBezTo>
                <a:cubicBezTo>
                  <a:pt x="96005" y="159161"/>
                  <a:pt x="90915" y="160734"/>
                  <a:pt x="85725" y="160734"/>
                </a:cubicBezTo>
                <a:cubicBezTo>
                  <a:pt x="80535" y="160734"/>
                  <a:pt x="75411" y="159194"/>
                  <a:pt x="71292" y="156013"/>
                </a:cubicBezTo>
                <a:cubicBezTo>
                  <a:pt x="46847" y="137361"/>
                  <a:pt x="0" y="93728"/>
                  <a:pt x="0" y="56157"/>
                </a:cubicBezTo>
                <a:lnTo>
                  <a:pt x="0" y="55286"/>
                </a:lnTo>
                <a:cubicBezTo>
                  <a:pt x="0" y="30673"/>
                  <a:pt x="19958" y="10716"/>
                  <a:pt x="44570" y="10716"/>
                </a:cubicBezTo>
                <a:cubicBezTo>
                  <a:pt x="58869" y="10716"/>
                  <a:pt x="72330" y="17580"/>
                  <a:pt x="80702" y="29167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8" name="Text 26"/>
          <p:cNvSpPr/>
          <p:nvPr/>
        </p:nvSpPr>
        <p:spPr>
          <a:xfrm>
            <a:off x="6058853" y="2238375"/>
            <a:ext cx="2705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Análisis de engagement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058853" y="2466975"/>
            <a:ext cx="2705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Detección de emociones del estudiante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10200" y="3000375"/>
            <a:ext cx="6400800" cy="3000375"/>
          </a:xfrm>
          <a:custGeom>
            <a:avLst/>
            <a:gdLst/>
            <a:ahLst/>
            <a:cxnLst/>
            <a:rect l="l" t="t" r="r" b="b"/>
            <a:pathLst>
              <a:path w="6400800" h="3000375">
                <a:moveTo>
                  <a:pt x="0" y="0"/>
                </a:moveTo>
                <a:lnTo>
                  <a:pt x="6400800" y="0"/>
                </a:lnTo>
                <a:lnTo>
                  <a:pt x="640080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solidFill>
            <a:srgbClr val="8B8680">
              <a:alpha val="5098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667375" y="3305175"/>
            <a:ext cx="5886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Beneficios Clave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718810" y="3728085"/>
            <a:ext cx="2807970" cy="902970"/>
          </a:xfrm>
          <a:custGeom>
            <a:avLst/>
            <a:gdLst/>
            <a:ahLst/>
            <a:cxnLst/>
            <a:rect l="l" t="t" r="r" b="b"/>
            <a:pathLst>
              <a:path w="2807970" h="902970">
                <a:moveTo>
                  <a:pt x="0" y="0"/>
                </a:moveTo>
                <a:lnTo>
                  <a:pt x="2807970" y="0"/>
                </a:lnTo>
                <a:lnTo>
                  <a:pt x="2807970" y="902970"/>
                </a:lnTo>
                <a:lnTo>
                  <a:pt x="0" y="9029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C4B7A6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02066" y="3884298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89086" y="-5525"/>
                </a:moveTo>
                <a:cubicBezTo>
                  <a:pt x="195728" y="-726"/>
                  <a:pt x="198183" y="7981"/>
                  <a:pt x="195169" y="15571"/>
                </a:cubicBezTo>
                <a:lnTo>
                  <a:pt x="151414" y="125016"/>
                </a:lnTo>
                <a:lnTo>
                  <a:pt x="232172" y="125016"/>
                </a:lnTo>
                <a:cubicBezTo>
                  <a:pt x="239706" y="125016"/>
                  <a:pt x="246404" y="129704"/>
                  <a:pt x="248971" y="136792"/>
                </a:cubicBezTo>
                <a:cubicBezTo>
                  <a:pt x="251538" y="143880"/>
                  <a:pt x="249362" y="151805"/>
                  <a:pt x="243613" y="156604"/>
                </a:cubicBezTo>
                <a:lnTo>
                  <a:pt x="82879" y="290550"/>
                </a:lnTo>
                <a:cubicBezTo>
                  <a:pt x="76572" y="295796"/>
                  <a:pt x="67587" y="296075"/>
                  <a:pt x="60945" y="291275"/>
                </a:cubicBezTo>
                <a:cubicBezTo>
                  <a:pt x="54304" y="286476"/>
                  <a:pt x="51848" y="277769"/>
                  <a:pt x="54862" y="270179"/>
                </a:cubicBezTo>
                <a:lnTo>
                  <a:pt x="98617" y="160734"/>
                </a:lnTo>
                <a:lnTo>
                  <a:pt x="17859" y="160734"/>
                </a:lnTo>
                <a:cubicBezTo>
                  <a:pt x="10325" y="160734"/>
                  <a:pt x="3628" y="156046"/>
                  <a:pt x="1060" y="148958"/>
                </a:cubicBezTo>
                <a:cubicBezTo>
                  <a:pt x="-1507" y="141870"/>
                  <a:pt x="670" y="133945"/>
                  <a:pt x="6418" y="129146"/>
                </a:cubicBezTo>
                <a:lnTo>
                  <a:pt x="167153" y="-4800"/>
                </a:lnTo>
                <a:cubicBezTo>
                  <a:pt x="173459" y="-10046"/>
                  <a:pt x="182445" y="-10325"/>
                  <a:pt x="189086" y="-5525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4" name="Text 32"/>
          <p:cNvSpPr/>
          <p:nvPr/>
        </p:nvSpPr>
        <p:spPr>
          <a:xfrm>
            <a:off x="5836920" y="4246248"/>
            <a:ext cx="257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Latencia Mínima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690610" y="3728085"/>
            <a:ext cx="2807970" cy="902970"/>
          </a:xfrm>
          <a:custGeom>
            <a:avLst/>
            <a:gdLst/>
            <a:ahLst/>
            <a:cxnLst/>
            <a:rect l="l" t="t" r="r" b="b"/>
            <a:pathLst>
              <a:path w="2807970" h="902970">
                <a:moveTo>
                  <a:pt x="0" y="0"/>
                </a:moveTo>
                <a:lnTo>
                  <a:pt x="2807970" y="0"/>
                </a:lnTo>
                <a:lnTo>
                  <a:pt x="2807970" y="902970"/>
                </a:lnTo>
                <a:lnTo>
                  <a:pt x="0" y="9029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C4B7A6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991725" y="3884298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71438" y="53578"/>
                </a:moveTo>
                <a:lnTo>
                  <a:pt x="71438" y="89297"/>
                </a:lnTo>
                <a:lnTo>
                  <a:pt x="142875" y="89297"/>
                </a:lnTo>
                <a:lnTo>
                  <a:pt x="142875" y="53578"/>
                </a:lnTo>
                <a:cubicBezTo>
                  <a:pt x="142875" y="33877"/>
                  <a:pt x="126857" y="17859"/>
                  <a:pt x="107156" y="17859"/>
                </a:cubicBezTo>
                <a:cubicBezTo>
                  <a:pt x="87455" y="17859"/>
                  <a:pt x="71438" y="33877"/>
                  <a:pt x="71438" y="53578"/>
                </a:cubicBezTo>
                <a:close/>
                <a:moveTo>
                  <a:pt x="35719" y="89297"/>
                </a:moveTo>
                <a:lnTo>
                  <a:pt x="35719" y="53578"/>
                </a:lnTo>
                <a:cubicBezTo>
                  <a:pt x="35719" y="14120"/>
                  <a:pt x="67698" y="-17859"/>
                  <a:pt x="107156" y="-17859"/>
                </a:cubicBezTo>
                <a:cubicBezTo>
                  <a:pt x="146614" y="-17859"/>
                  <a:pt x="178594" y="14120"/>
                  <a:pt x="178594" y="53578"/>
                </a:cubicBezTo>
                <a:lnTo>
                  <a:pt x="178594" y="89297"/>
                </a:lnTo>
                <a:cubicBezTo>
                  <a:pt x="198295" y="89297"/>
                  <a:pt x="214313" y="105315"/>
                  <a:pt x="214313" y="125016"/>
                </a:cubicBezTo>
                <a:lnTo>
                  <a:pt x="214313" y="250031"/>
                </a:lnTo>
                <a:cubicBezTo>
                  <a:pt x="214313" y="269732"/>
                  <a:pt x="198295" y="285750"/>
                  <a:pt x="178594" y="285750"/>
                </a:cubicBezTo>
                <a:lnTo>
                  <a:pt x="35719" y="285750"/>
                </a:lnTo>
                <a:cubicBezTo>
                  <a:pt x="16018" y="285750"/>
                  <a:pt x="0" y="269732"/>
                  <a:pt x="0" y="250031"/>
                </a:cubicBezTo>
                <a:lnTo>
                  <a:pt x="0" y="125016"/>
                </a:lnTo>
                <a:cubicBezTo>
                  <a:pt x="0" y="105315"/>
                  <a:pt x="16018" y="89297"/>
                  <a:pt x="35719" y="89297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7" name="Text 35"/>
          <p:cNvSpPr/>
          <p:nvPr/>
        </p:nvSpPr>
        <p:spPr>
          <a:xfrm>
            <a:off x="8808720" y="4246248"/>
            <a:ext cx="257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Privacidad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718810" y="4791076"/>
            <a:ext cx="2807970" cy="902970"/>
          </a:xfrm>
          <a:custGeom>
            <a:avLst/>
            <a:gdLst/>
            <a:ahLst/>
            <a:cxnLst/>
            <a:rect l="l" t="t" r="r" b="b"/>
            <a:pathLst>
              <a:path w="2807970" h="902970">
                <a:moveTo>
                  <a:pt x="0" y="0"/>
                </a:moveTo>
                <a:lnTo>
                  <a:pt x="2807970" y="0"/>
                </a:lnTo>
                <a:lnTo>
                  <a:pt x="2807970" y="902970"/>
                </a:lnTo>
                <a:lnTo>
                  <a:pt x="0" y="9029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C4B7A6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02066" y="4947284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93762" y="17859"/>
                </a:moveTo>
                <a:lnTo>
                  <a:pt x="13395" y="17859"/>
                </a:lnTo>
                <a:cubicBezTo>
                  <a:pt x="5972" y="17859"/>
                  <a:pt x="0" y="23831"/>
                  <a:pt x="0" y="31254"/>
                </a:cubicBezTo>
                <a:lnTo>
                  <a:pt x="0" y="111621"/>
                </a:lnTo>
                <a:cubicBezTo>
                  <a:pt x="0" y="117035"/>
                  <a:pt x="3237" y="121946"/>
                  <a:pt x="8260" y="124011"/>
                </a:cubicBezTo>
                <a:cubicBezTo>
                  <a:pt x="13283" y="126076"/>
                  <a:pt x="19031" y="124904"/>
                  <a:pt x="22882" y="121109"/>
                </a:cubicBezTo>
                <a:lnTo>
                  <a:pt x="45207" y="98785"/>
                </a:lnTo>
                <a:lnTo>
                  <a:pt x="89297" y="142875"/>
                </a:lnTo>
                <a:lnTo>
                  <a:pt x="45207" y="186965"/>
                </a:lnTo>
                <a:lnTo>
                  <a:pt x="22882" y="164641"/>
                </a:lnTo>
                <a:cubicBezTo>
                  <a:pt x="19031" y="160790"/>
                  <a:pt x="13283" y="159674"/>
                  <a:pt x="8260" y="161739"/>
                </a:cubicBezTo>
                <a:cubicBezTo>
                  <a:pt x="3237" y="163804"/>
                  <a:pt x="0" y="168715"/>
                  <a:pt x="0" y="174129"/>
                </a:cubicBezTo>
                <a:lnTo>
                  <a:pt x="0" y="254496"/>
                </a:lnTo>
                <a:cubicBezTo>
                  <a:pt x="0" y="261919"/>
                  <a:pt x="5972" y="267891"/>
                  <a:pt x="13395" y="267891"/>
                </a:cubicBezTo>
                <a:lnTo>
                  <a:pt x="93762" y="267891"/>
                </a:lnTo>
                <a:cubicBezTo>
                  <a:pt x="99175" y="267891"/>
                  <a:pt x="104087" y="264654"/>
                  <a:pt x="106152" y="259631"/>
                </a:cubicBezTo>
                <a:cubicBezTo>
                  <a:pt x="108217" y="254608"/>
                  <a:pt x="107100" y="248859"/>
                  <a:pt x="103250" y="245008"/>
                </a:cubicBezTo>
                <a:lnTo>
                  <a:pt x="80925" y="222684"/>
                </a:lnTo>
                <a:lnTo>
                  <a:pt x="125016" y="178594"/>
                </a:lnTo>
                <a:lnTo>
                  <a:pt x="169106" y="222684"/>
                </a:lnTo>
                <a:lnTo>
                  <a:pt x="146782" y="245008"/>
                </a:lnTo>
                <a:cubicBezTo>
                  <a:pt x="142931" y="248859"/>
                  <a:pt x="141815" y="254608"/>
                  <a:pt x="143880" y="259631"/>
                </a:cubicBezTo>
                <a:cubicBezTo>
                  <a:pt x="145945" y="264654"/>
                  <a:pt x="150856" y="267891"/>
                  <a:pt x="156270" y="267891"/>
                </a:cubicBezTo>
                <a:lnTo>
                  <a:pt x="236637" y="267891"/>
                </a:lnTo>
                <a:cubicBezTo>
                  <a:pt x="244060" y="267891"/>
                  <a:pt x="250031" y="261919"/>
                  <a:pt x="250031" y="254496"/>
                </a:cubicBezTo>
                <a:lnTo>
                  <a:pt x="250031" y="174129"/>
                </a:lnTo>
                <a:cubicBezTo>
                  <a:pt x="250031" y="168715"/>
                  <a:pt x="246794" y="163804"/>
                  <a:pt x="241771" y="161739"/>
                </a:cubicBezTo>
                <a:cubicBezTo>
                  <a:pt x="236748" y="159674"/>
                  <a:pt x="231000" y="160790"/>
                  <a:pt x="227149" y="164641"/>
                </a:cubicBezTo>
                <a:lnTo>
                  <a:pt x="204825" y="186965"/>
                </a:lnTo>
                <a:lnTo>
                  <a:pt x="160734" y="142875"/>
                </a:lnTo>
                <a:lnTo>
                  <a:pt x="204825" y="98785"/>
                </a:lnTo>
                <a:lnTo>
                  <a:pt x="227149" y="121109"/>
                </a:lnTo>
                <a:cubicBezTo>
                  <a:pt x="231000" y="124960"/>
                  <a:pt x="236748" y="126076"/>
                  <a:pt x="241771" y="124011"/>
                </a:cubicBezTo>
                <a:cubicBezTo>
                  <a:pt x="246794" y="121946"/>
                  <a:pt x="250031" y="117035"/>
                  <a:pt x="250031" y="111621"/>
                </a:cubicBezTo>
                <a:lnTo>
                  <a:pt x="250031" y="31254"/>
                </a:lnTo>
                <a:cubicBezTo>
                  <a:pt x="250031" y="23831"/>
                  <a:pt x="244060" y="17859"/>
                  <a:pt x="236637" y="17859"/>
                </a:cubicBezTo>
                <a:lnTo>
                  <a:pt x="156270" y="17859"/>
                </a:lnTo>
                <a:cubicBezTo>
                  <a:pt x="150856" y="17859"/>
                  <a:pt x="145945" y="21096"/>
                  <a:pt x="143880" y="26119"/>
                </a:cubicBezTo>
                <a:cubicBezTo>
                  <a:pt x="141815" y="31142"/>
                  <a:pt x="142987" y="36891"/>
                  <a:pt x="146782" y="40742"/>
                </a:cubicBezTo>
                <a:lnTo>
                  <a:pt x="169106" y="63066"/>
                </a:lnTo>
                <a:lnTo>
                  <a:pt x="125016" y="107156"/>
                </a:lnTo>
                <a:lnTo>
                  <a:pt x="80925" y="63066"/>
                </a:lnTo>
                <a:lnTo>
                  <a:pt x="103250" y="40742"/>
                </a:lnTo>
                <a:cubicBezTo>
                  <a:pt x="107100" y="36891"/>
                  <a:pt x="108217" y="31142"/>
                  <a:pt x="106152" y="26119"/>
                </a:cubicBezTo>
                <a:cubicBezTo>
                  <a:pt x="104087" y="21096"/>
                  <a:pt x="99175" y="17859"/>
                  <a:pt x="93762" y="17859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40" name="Text 38"/>
          <p:cNvSpPr/>
          <p:nvPr/>
        </p:nvSpPr>
        <p:spPr>
          <a:xfrm>
            <a:off x="5836920" y="5309234"/>
            <a:ext cx="257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Escalabilidad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690610" y="4791076"/>
            <a:ext cx="2807970" cy="902970"/>
          </a:xfrm>
          <a:custGeom>
            <a:avLst/>
            <a:gdLst/>
            <a:ahLst/>
            <a:cxnLst/>
            <a:rect l="l" t="t" r="r" b="b"/>
            <a:pathLst>
              <a:path w="2807970" h="902970">
                <a:moveTo>
                  <a:pt x="0" y="0"/>
                </a:moveTo>
                <a:lnTo>
                  <a:pt x="2807970" y="0"/>
                </a:lnTo>
                <a:lnTo>
                  <a:pt x="2807970" y="902970"/>
                </a:lnTo>
                <a:lnTo>
                  <a:pt x="0" y="9029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C4B7A6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938147" y="4947284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60734" y="53578"/>
                </a:moveTo>
                <a:cubicBezTo>
                  <a:pt x="110003" y="53578"/>
                  <a:pt x="64071" y="73670"/>
                  <a:pt x="30305" y="106375"/>
                </a:cubicBezTo>
                <a:cubicBezTo>
                  <a:pt x="23217" y="113240"/>
                  <a:pt x="11888" y="113072"/>
                  <a:pt x="5079" y="105984"/>
                </a:cubicBezTo>
                <a:cubicBezTo>
                  <a:pt x="-1730" y="98896"/>
                  <a:pt x="-1619" y="87567"/>
                  <a:pt x="5469" y="80758"/>
                </a:cubicBezTo>
                <a:cubicBezTo>
                  <a:pt x="45597" y="41802"/>
                  <a:pt x="100403" y="17859"/>
                  <a:pt x="160734" y="17859"/>
                </a:cubicBezTo>
                <a:cubicBezTo>
                  <a:pt x="221066" y="17859"/>
                  <a:pt x="275872" y="41802"/>
                  <a:pt x="316055" y="80758"/>
                </a:cubicBezTo>
                <a:cubicBezTo>
                  <a:pt x="323143" y="87623"/>
                  <a:pt x="323310" y="98952"/>
                  <a:pt x="316446" y="105984"/>
                </a:cubicBezTo>
                <a:cubicBezTo>
                  <a:pt x="309581" y="113016"/>
                  <a:pt x="298252" y="113240"/>
                  <a:pt x="291219" y="106375"/>
                </a:cubicBezTo>
                <a:cubicBezTo>
                  <a:pt x="257398" y="73670"/>
                  <a:pt x="211466" y="53578"/>
                  <a:pt x="160734" y="53578"/>
                </a:cubicBezTo>
                <a:close/>
                <a:moveTo>
                  <a:pt x="133945" y="241102"/>
                </a:moveTo>
                <a:cubicBezTo>
                  <a:pt x="133945" y="226316"/>
                  <a:pt x="145949" y="214313"/>
                  <a:pt x="160734" y="214313"/>
                </a:cubicBezTo>
                <a:cubicBezTo>
                  <a:pt x="175520" y="214313"/>
                  <a:pt x="187523" y="226316"/>
                  <a:pt x="187523" y="241102"/>
                </a:cubicBezTo>
                <a:cubicBezTo>
                  <a:pt x="187523" y="255887"/>
                  <a:pt x="175520" y="267891"/>
                  <a:pt x="160734" y="267891"/>
                </a:cubicBezTo>
                <a:cubicBezTo>
                  <a:pt x="145949" y="267891"/>
                  <a:pt x="133945" y="255887"/>
                  <a:pt x="133945" y="241102"/>
                </a:cubicBezTo>
                <a:close/>
                <a:moveTo>
                  <a:pt x="93762" y="182054"/>
                </a:moveTo>
                <a:cubicBezTo>
                  <a:pt x="87232" y="189477"/>
                  <a:pt x="75958" y="190147"/>
                  <a:pt x="68535" y="183617"/>
                </a:cubicBezTo>
                <a:cubicBezTo>
                  <a:pt x="61113" y="177087"/>
                  <a:pt x="60443" y="165813"/>
                  <a:pt x="66973" y="158390"/>
                </a:cubicBezTo>
                <a:cubicBezTo>
                  <a:pt x="89855" y="132494"/>
                  <a:pt x="123397" y="116086"/>
                  <a:pt x="160734" y="116086"/>
                </a:cubicBezTo>
                <a:cubicBezTo>
                  <a:pt x="198072" y="116086"/>
                  <a:pt x="231614" y="132494"/>
                  <a:pt x="254496" y="158390"/>
                </a:cubicBezTo>
                <a:cubicBezTo>
                  <a:pt x="261026" y="165813"/>
                  <a:pt x="260300" y="177087"/>
                  <a:pt x="252933" y="183617"/>
                </a:cubicBezTo>
                <a:cubicBezTo>
                  <a:pt x="245566" y="190147"/>
                  <a:pt x="234237" y="189421"/>
                  <a:pt x="227707" y="182054"/>
                </a:cubicBezTo>
                <a:cubicBezTo>
                  <a:pt x="211299" y="163469"/>
                  <a:pt x="187412" y="151805"/>
                  <a:pt x="160734" y="151805"/>
                </a:cubicBezTo>
                <a:cubicBezTo>
                  <a:pt x="134057" y="151805"/>
                  <a:pt x="110170" y="163469"/>
                  <a:pt x="93762" y="182054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43" name="Text 41"/>
          <p:cNvSpPr/>
          <p:nvPr/>
        </p:nvSpPr>
        <p:spPr>
          <a:xfrm>
            <a:off x="8808720" y="5309234"/>
            <a:ext cx="257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Funciona Offline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410200" y="6235067"/>
            <a:ext cx="6400800" cy="7620"/>
          </a:xfrm>
          <a:custGeom>
            <a:avLst/>
            <a:gdLst/>
            <a:ahLst/>
            <a:cxnLst/>
            <a:rect l="l" t="t" r="r" b="b"/>
            <a:pathLst>
              <a:path w="6400800" h="7620">
                <a:moveTo>
                  <a:pt x="0" y="0"/>
                </a:moveTo>
                <a:lnTo>
                  <a:pt x="6400800" y="0"/>
                </a:lnTo>
                <a:lnTo>
                  <a:pt x="64008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3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5372100" y="6391275"/>
            <a:ext cx="647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Todo ejecutado en el cliente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sin necesidad de enviar datos a servidores externos.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manuelametra.com/220dd6d1b89ec278c8e72ae818557c502dfda6dd.jpg"/>
          <p:cNvPicPr>
            <a:picLocks noChangeAspect="1"/>
          </p:cNvPicPr>
          <p:nvPr/>
        </p:nvPicPr>
        <p:blipFill>
          <a:blip r:embed="rId3">
            <a:alphaModFix amt="4000"/>
          </a:blip>
          <a:srcRect t="41563" b="41563"/>
          <a:stretch/>
        </p:blipFill>
        <p:spPr>
          <a:xfrm>
            <a:off x="0" y="4800600"/>
            <a:ext cx="12192000" cy="20574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5035034" y="466725"/>
            <a:ext cx="457200" cy="19050"/>
          </a:xfrm>
          <a:custGeom>
            <a:avLst/>
            <a:gdLst/>
            <a:ahLst/>
            <a:cxnLst/>
            <a:rect l="l" t="t" r="r" b="b"/>
            <a:pathLst>
              <a:path w="457200" h="19050">
                <a:moveTo>
                  <a:pt x="0" y="0"/>
                </a:moveTo>
                <a:lnTo>
                  <a:pt x="457200" y="0"/>
                </a:lnTo>
                <a:lnTo>
                  <a:pt x="4572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4" name="Text 1"/>
          <p:cNvSpPr/>
          <p:nvPr/>
        </p:nvSpPr>
        <p:spPr>
          <a:xfrm>
            <a:off x="5611296" y="381000"/>
            <a:ext cx="97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kern="0" spc="315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ANÁLISIS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699766" y="466725"/>
            <a:ext cx="457200" cy="19050"/>
          </a:xfrm>
          <a:custGeom>
            <a:avLst/>
            <a:gdLst/>
            <a:ahLst/>
            <a:cxnLst/>
            <a:rect l="l" t="t" r="r" b="b"/>
            <a:pathLst>
              <a:path w="457200" h="19050">
                <a:moveTo>
                  <a:pt x="0" y="0"/>
                </a:moveTo>
                <a:lnTo>
                  <a:pt x="457200" y="0"/>
                </a:lnTo>
                <a:lnTo>
                  <a:pt x="4572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6" name="Text 3"/>
          <p:cNvSpPr/>
          <p:nvPr/>
        </p:nvSpPr>
        <p:spPr>
          <a:xfrm>
            <a:off x="266700" y="723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Ventajas y Limitaciones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09575" y="144768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8" name="Text 5"/>
          <p:cNvSpPr/>
          <p:nvPr/>
        </p:nvSpPr>
        <p:spPr>
          <a:xfrm>
            <a:off x="666750" y="1409700"/>
            <a:ext cx="5353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Ventajas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8620" y="1904884"/>
            <a:ext cx="15240" cy="495300"/>
          </a:xfrm>
          <a:custGeom>
            <a:avLst/>
            <a:gdLst/>
            <a:ahLst/>
            <a:cxnLst/>
            <a:rect l="l" t="t" r="r" b="b"/>
            <a:pathLst>
              <a:path w="15240" h="495300">
                <a:moveTo>
                  <a:pt x="0" y="0"/>
                </a:moveTo>
                <a:lnTo>
                  <a:pt x="15240" y="0"/>
                </a:lnTo>
                <a:lnTo>
                  <a:pt x="1524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904884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Despliegue sin backend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2171584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Ejecuta modelos directamente en el navegador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8620" y="2552584"/>
            <a:ext cx="15240" cy="495300"/>
          </a:xfrm>
          <a:custGeom>
            <a:avLst/>
            <a:gdLst/>
            <a:ahLst/>
            <a:cxnLst/>
            <a:rect l="l" t="t" r="r" b="b"/>
            <a:pathLst>
              <a:path w="15240" h="495300">
                <a:moveTo>
                  <a:pt x="0" y="0"/>
                </a:moveTo>
                <a:lnTo>
                  <a:pt x="15240" y="0"/>
                </a:lnTo>
                <a:lnTo>
                  <a:pt x="1524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552584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Latencia mínima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8640" y="2819284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Respuesta inmediata, experiencia fluida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88620" y="3200284"/>
            <a:ext cx="15240" cy="495300"/>
          </a:xfrm>
          <a:custGeom>
            <a:avLst/>
            <a:gdLst/>
            <a:ahLst/>
            <a:cxnLst/>
            <a:rect l="l" t="t" r="r" b="b"/>
            <a:pathLst>
              <a:path w="15240" h="495300">
                <a:moveTo>
                  <a:pt x="0" y="0"/>
                </a:moveTo>
                <a:lnTo>
                  <a:pt x="15240" y="0"/>
                </a:lnTo>
                <a:lnTo>
                  <a:pt x="1524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3200284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Privacidad de datos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48640" y="3466984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Los datos no viajan a servidores externos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88620" y="3847984"/>
            <a:ext cx="15240" cy="495300"/>
          </a:xfrm>
          <a:custGeom>
            <a:avLst/>
            <a:gdLst/>
            <a:ahLst/>
            <a:cxnLst/>
            <a:rect l="l" t="t" r="r" b="b"/>
            <a:pathLst>
              <a:path w="15240" h="495300">
                <a:moveTo>
                  <a:pt x="0" y="0"/>
                </a:moveTo>
                <a:lnTo>
                  <a:pt x="15240" y="0"/>
                </a:lnTo>
                <a:lnTo>
                  <a:pt x="1524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3847984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Escalabilidad fácil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48640" y="4114684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Cada usuario ejecuta el modelo en su dispositivo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88620" y="4495684"/>
            <a:ext cx="15240" cy="495300"/>
          </a:xfrm>
          <a:custGeom>
            <a:avLst/>
            <a:gdLst/>
            <a:ahLst/>
            <a:cxnLst/>
            <a:rect l="l" t="t" r="r" b="b"/>
            <a:pathLst>
              <a:path w="15240" h="495300">
                <a:moveTo>
                  <a:pt x="0" y="0"/>
                </a:moveTo>
                <a:lnTo>
                  <a:pt x="15240" y="0"/>
                </a:lnTo>
                <a:lnTo>
                  <a:pt x="1524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4495684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Portabilidad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48640" y="4762384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Funciona en cualquier navegador moderno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88620" y="5143384"/>
            <a:ext cx="15240" cy="495300"/>
          </a:xfrm>
          <a:custGeom>
            <a:avLst/>
            <a:gdLst/>
            <a:ahLst/>
            <a:cxnLst/>
            <a:rect l="l" t="t" r="r" b="b"/>
            <a:pathLst>
              <a:path w="15240" h="495300">
                <a:moveTo>
                  <a:pt x="0" y="0"/>
                </a:moveTo>
                <a:lnTo>
                  <a:pt x="15240" y="0"/>
                </a:lnTo>
                <a:lnTo>
                  <a:pt x="1524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5" name="Text 22"/>
          <p:cNvSpPr/>
          <p:nvPr/>
        </p:nvSpPr>
        <p:spPr>
          <a:xfrm>
            <a:off x="548640" y="5143384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Actualización sencilla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48640" y="5410084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Modelos se cargan dinámicamente sin redeploy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315075" y="144768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8" name="Text 25"/>
          <p:cNvSpPr/>
          <p:nvPr/>
        </p:nvSpPr>
        <p:spPr>
          <a:xfrm>
            <a:off x="6572250" y="1409700"/>
            <a:ext cx="5353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Limitaciones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294120" y="1904884"/>
            <a:ext cx="15240" cy="495300"/>
          </a:xfrm>
          <a:custGeom>
            <a:avLst/>
            <a:gdLst/>
            <a:ahLst/>
            <a:cxnLst/>
            <a:rect l="l" t="t" r="r" b="b"/>
            <a:pathLst>
              <a:path w="15240" h="495300">
                <a:moveTo>
                  <a:pt x="0" y="0"/>
                </a:moveTo>
                <a:lnTo>
                  <a:pt x="15240" y="0"/>
                </a:lnTo>
                <a:lnTo>
                  <a:pt x="1524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30" name="Text 27"/>
          <p:cNvSpPr/>
          <p:nvPr/>
        </p:nvSpPr>
        <p:spPr>
          <a:xfrm>
            <a:off x="6454140" y="1904884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Recursos del dispositivo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454140" y="2171584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Modelos complejos pueden ser lentos en dispositivos de gama baja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294120" y="2552584"/>
            <a:ext cx="15240" cy="495300"/>
          </a:xfrm>
          <a:custGeom>
            <a:avLst/>
            <a:gdLst/>
            <a:ahLst/>
            <a:cxnLst/>
            <a:rect l="l" t="t" r="r" b="b"/>
            <a:pathLst>
              <a:path w="15240" h="495300">
                <a:moveTo>
                  <a:pt x="0" y="0"/>
                </a:moveTo>
                <a:lnTo>
                  <a:pt x="15240" y="0"/>
                </a:lnTo>
                <a:lnTo>
                  <a:pt x="1524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33" name="Text 30"/>
          <p:cNvSpPr/>
          <p:nvPr/>
        </p:nvSpPr>
        <p:spPr>
          <a:xfrm>
            <a:off x="6454140" y="2552584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Tamaño del modelo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454140" y="2819284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Modelos &gt;50-100 MB afectan tiempo de carga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294120" y="3200284"/>
            <a:ext cx="15240" cy="495300"/>
          </a:xfrm>
          <a:custGeom>
            <a:avLst/>
            <a:gdLst/>
            <a:ahLst/>
            <a:cxnLst/>
            <a:rect l="l" t="t" r="r" b="b"/>
            <a:pathLst>
              <a:path w="15240" h="495300">
                <a:moveTo>
                  <a:pt x="0" y="0"/>
                </a:moveTo>
                <a:lnTo>
                  <a:pt x="15240" y="0"/>
                </a:lnTo>
                <a:lnTo>
                  <a:pt x="1524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36" name="Text 33"/>
          <p:cNvSpPr/>
          <p:nvPr/>
        </p:nvSpPr>
        <p:spPr>
          <a:xfrm>
            <a:off x="6454140" y="3200284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Limitaciones de GPU/CPU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454140" y="3466984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WebGL/WebGPU no igualan a GPUs de servidor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294120" y="3847984"/>
            <a:ext cx="15240" cy="495300"/>
          </a:xfrm>
          <a:custGeom>
            <a:avLst/>
            <a:gdLst/>
            <a:ahLst/>
            <a:cxnLst/>
            <a:rect l="l" t="t" r="r" b="b"/>
            <a:pathLst>
              <a:path w="15240" h="495300">
                <a:moveTo>
                  <a:pt x="0" y="0"/>
                </a:moveTo>
                <a:lnTo>
                  <a:pt x="15240" y="0"/>
                </a:lnTo>
                <a:lnTo>
                  <a:pt x="1524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39" name="Text 36"/>
          <p:cNvSpPr/>
          <p:nvPr/>
        </p:nvSpPr>
        <p:spPr>
          <a:xfrm>
            <a:off x="6454140" y="3847984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Persistencia de datos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6454140" y="4114684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Requiere backend para almacenar resultados duraderos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6294120" y="4495684"/>
            <a:ext cx="15240" cy="495300"/>
          </a:xfrm>
          <a:custGeom>
            <a:avLst/>
            <a:gdLst/>
            <a:ahLst/>
            <a:cxnLst/>
            <a:rect l="l" t="t" r="r" b="b"/>
            <a:pathLst>
              <a:path w="15240" h="495300">
                <a:moveTo>
                  <a:pt x="0" y="0"/>
                </a:moveTo>
                <a:lnTo>
                  <a:pt x="15240" y="0"/>
                </a:lnTo>
                <a:lnTo>
                  <a:pt x="1524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42" name="Text 39"/>
          <p:cNvSpPr/>
          <p:nvPr/>
        </p:nvSpPr>
        <p:spPr>
          <a:xfrm>
            <a:off x="6454140" y="4495684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Compatibilidad limitada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454140" y="4762384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todas las operaciones de TensorFlow Python están disponibles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294120" y="5143384"/>
            <a:ext cx="15240" cy="495300"/>
          </a:xfrm>
          <a:custGeom>
            <a:avLst/>
            <a:gdLst/>
            <a:ahLst/>
            <a:cxnLst/>
            <a:rect l="l" t="t" r="r" b="b"/>
            <a:pathLst>
              <a:path w="15240" h="495300">
                <a:moveTo>
                  <a:pt x="0" y="0"/>
                </a:moveTo>
                <a:lnTo>
                  <a:pt x="15240" y="0"/>
                </a:lnTo>
                <a:lnTo>
                  <a:pt x="1524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45" name="Text 42"/>
          <p:cNvSpPr/>
          <p:nvPr/>
        </p:nvSpPr>
        <p:spPr>
          <a:xfrm>
            <a:off x="6454140" y="5143384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apto para entrenamiento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454140" y="5410084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Entrenamiento pesado requiere servidor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381000" y="5825492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30196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390525" y="60198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49" name="Text 46"/>
          <p:cNvSpPr/>
          <p:nvPr/>
        </p:nvSpPr>
        <p:spPr>
          <a:xfrm>
            <a:off x="695325" y="5981700"/>
            <a:ext cx="111918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Conclusión: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Puedes crear aplicaciones totalmente en React + TensorFlow.js sin backend, aprovechando la IA en el navegador. Para apps con modelos muy pesados, datos persistentes o procesos complejos, un backend sigue siendo recomendable.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231" y="436383"/>
            <a:ext cx="427477" cy="17812"/>
          </a:xfrm>
          <a:custGeom>
            <a:avLst/>
            <a:gdLst/>
            <a:ahLst/>
            <a:cxnLst/>
            <a:rect l="l" t="t" r="r" b="b"/>
            <a:pathLst>
              <a:path w="427477" h="17812">
                <a:moveTo>
                  <a:pt x="0" y="0"/>
                </a:moveTo>
                <a:lnTo>
                  <a:pt x="427477" y="0"/>
                </a:lnTo>
                <a:lnTo>
                  <a:pt x="427477" y="17812"/>
                </a:lnTo>
                <a:lnTo>
                  <a:pt x="0" y="17812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" name="Text 1"/>
          <p:cNvSpPr/>
          <p:nvPr/>
        </p:nvSpPr>
        <p:spPr>
          <a:xfrm>
            <a:off x="926200" y="356231"/>
            <a:ext cx="774802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kern="0" spc="295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6231" y="676839"/>
            <a:ext cx="11693277" cy="1068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366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Tendencias y Futuro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366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 la Web Inteligente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3355" y="1959270"/>
            <a:ext cx="14249" cy="2030516"/>
          </a:xfrm>
          <a:custGeom>
            <a:avLst/>
            <a:gdLst/>
            <a:ahLst/>
            <a:cxnLst/>
            <a:rect l="l" t="t" r="r" b="b"/>
            <a:pathLst>
              <a:path w="14249" h="2030516">
                <a:moveTo>
                  <a:pt x="0" y="0"/>
                </a:moveTo>
                <a:lnTo>
                  <a:pt x="14249" y="0"/>
                </a:lnTo>
                <a:lnTo>
                  <a:pt x="14249" y="2030516"/>
                </a:lnTo>
                <a:lnTo>
                  <a:pt x="0" y="2030516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6" name="Text 4"/>
          <p:cNvSpPr/>
          <p:nvPr/>
        </p:nvSpPr>
        <p:spPr>
          <a:xfrm>
            <a:off x="584219" y="1959270"/>
            <a:ext cx="5040666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3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React: Estándar del 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4219" y="2351015"/>
            <a:ext cx="5005043" cy="46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2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 el </a:t>
            </a:r>
            <a:r>
              <a:rPr lang="en-US" sz="1122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estándar de facto del front-end web moderno</a:t>
            </a:r>
            <a:r>
              <a:rPr lang="en-US" sz="1122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muy usado en e-commerce, fintech, SaaS y redes sociales.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4219" y="2920984"/>
            <a:ext cx="5005043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Interfaces rápidas e interactivas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4219" y="3205969"/>
            <a:ext cx="5005043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Ecosistema maduro (Next.js, React Native)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4219" y="3490953"/>
            <a:ext cx="5005043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React Server Components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4219" y="3775938"/>
            <a:ext cx="5005043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Integración creciente con IA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3355" y="4203415"/>
            <a:ext cx="14249" cy="1798966"/>
          </a:xfrm>
          <a:custGeom>
            <a:avLst/>
            <a:gdLst/>
            <a:ahLst/>
            <a:cxnLst/>
            <a:rect l="l" t="t" r="r" b="b"/>
            <a:pathLst>
              <a:path w="14249" h="1798966">
                <a:moveTo>
                  <a:pt x="0" y="0"/>
                </a:moveTo>
                <a:lnTo>
                  <a:pt x="14249" y="0"/>
                </a:lnTo>
                <a:lnTo>
                  <a:pt x="14249" y="1798966"/>
                </a:lnTo>
                <a:lnTo>
                  <a:pt x="0" y="1798966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3" name="Text 11"/>
          <p:cNvSpPr/>
          <p:nvPr/>
        </p:nvSpPr>
        <p:spPr>
          <a:xfrm>
            <a:off x="584219" y="4203415"/>
            <a:ext cx="5040666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3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TensorFlow: ML en Producción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4219" y="4595156"/>
            <a:ext cx="5005043" cy="23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2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Herramienta clave de </a:t>
            </a:r>
            <a:r>
              <a:rPr lang="en-US" sz="1122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 y Deep Learning</a:t>
            </a:r>
            <a:r>
              <a:rPr lang="en-US" sz="1122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 la industria.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4219" y="4933575"/>
            <a:ext cx="5005043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Visión por computador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4219" y="5218560"/>
            <a:ext cx="5005043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Procesamiento de lenguaje natural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4219" y="5503544"/>
            <a:ext cx="5005043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Sistemas predictivos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4219" y="5788529"/>
            <a:ext cx="5005043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Ecosistema multiplataforma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77697" y="1959270"/>
            <a:ext cx="6064830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3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Potencial por Sectores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881259" y="2425823"/>
            <a:ext cx="5947274" cy="1182686"/>
          </a:xfrm>
          <a:custGeom>
            <a:avLst/>
            <a:gdLst/>
            <a:ahLst/>
            <a:cxnLst/>
            <a:rect l="l" t="t" r="r" b="b"/>
            <a:pathLst>
              <a:path w="5947274" h="1182686">
                <a:moveTo>
                  <a:pt x="0" y="0"/>
                </a:moveTo>
                <a:lnTo>
                  <a:pt x="5947274" y="0"/>
                </a:lnTo>
                <a:lnTo>
                  <a:pt x="5947274" y="1182686"/>
                </a:lnTo>
                <a:lnTo>
                  <a:pt x="0" y="118268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8B8680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76296" y="2625311"/>
            <a:ext cx="240456" cy="213738"/>
          </a:xfrm>
          <a:custGeom>
            <a:avLst/>
            <a:gdLst/>
            <a:ahLst/>
            <a:cxnLst/>
            <a:rect l="l" t="t" r="r" b="b"/>
            <a:pathLst>
              <a:path w="240456" h="213738">
                <a:moveTo>
                  <a:pt x="20038" y="81738"/>
                </a:moveTo>
                <a:lnTo>
                  <a:pt x="107370" y="117681"/>
                </a:lnTo>
                <a:cubicBezTo>
                  <a:pt x="111461" y="119351"/>
                  <a:pt x="115803" y="120228"/>
                  <a:pt x="120228" y="120228"/>
                </a:cubicBezTo>
                <a:cubicBezTo>
                  <a:pt x="124653" y="120228"/>
                  <a:pt x="128995" y="119351"/>
                  <a:pt x="133086" y="117681"/>
                </a:cubicBezTo>
                <a:lnTo>
                  <a:pt x="234277" y="76019"/>
                </a:lnTo>
                <a:cubicBezTo>
                  <a:pt x="238035" y="74475"/>
                  <a:pt x="240456" y="70843"/>
                  <a:pt x="240456" y="66793"/>
                </a:cubicBezTo>
                <a:cubicBezTo>
                  <a:pt x="240456" y="62744"/>
                  <a:pt x="238035" y="59112"/>
                  <a:pt x="234277" y="57567"/>
                </a:cubicBezTo>
                <a:lnTo>
                  <a:pt x="133086" y="15905"/>
                </a:lnTo>
                <a:cubicBezTo>
                  <a:pt x="128995" y="14235"/>
                  <a:pt x="124653" y="13359"/>
                  <a:pt x="120228" y="13359"/>
                </a:cubicBezTo>
                <a:cubicBezTo>
                  <a:pt x="115803" y="13359"/>
                  <a:pt x="111461" y="14235"/>
                  <a:pt x="107370" y="15905"/>
                </a:cubicBezTo>
                <a:lnTo>
                  <a:pt x="6178" y="57567"/>
                </a:lnTo>
                <a:cubicBezTo>
                  <a:pt x="2421" y="59112"/>
                  <a:pt x="0" y="62744"/>
                  <a:pt x="0" y="66793"/>
                </a:cubicBezTo>
                <a:lnTo>
                  <a:pt x="0" y="190361"/>
                </a:lnTo>
                <a:cubicBezTo>
                  <a:pt x="0" y="195913"/>
                  <a:pt x="4467" y="200380"/>
                  <a:pt x="10019" y="200380"/>
                </a:cubicBezTo>
                <a:cubicBezTo>
                  <a:pt x="15571" y="200380"/>
                  <a:pt x="20038" y="195913"/>
                  <a:pt x="20038" y="190361"/>
                </a:cubicBezTo>
                <a:lnTo>
                  <a:pt x="20038" y="81738"/>
                </a:lnTo>
                <a:close/>
                <a:moveTo>
                  <a:pt x="40076" y="111670"/>
                </a:moveTo>
                <a:lnTo>
                  <a:pt x="40076" y="160304"/>
                </a:lnTo>
                <a:cubicBezTo>
                  <a:pt x="40076" y="182429"/>
                  <a:pt x="75977" y="200380"/>
                  <a:pt x="120228" y="200380"/>
                </a:cubicBezTo>
                <a:cubicBezTo>
                  <a:pt x="164478" y="200380"/>
                  <a:pt x="200380" y="182429"/>
                  <a:pt x="200380" y="160304"/>
                </a:cubicBezTo>
                <a:lnTo>
                  <a:pt x="200380" y="111628"/>
                </a:lnTo>
                <a:lnTo>
                  <a:pt x="140725" y="136217"/>
                </a:lnTo>
                <a:cubicBezTo>
                  <a:pt x="134213" y="138888"/>
                  <a:pt x="127283" y="140266"/>
                  <a:pt x="120228" y="140266"/>
                </a:cubicBezTo>
                <a:cubicBezTo>
                  <a:pt x="113173" y="140266"/>
                  <a:pt x="106243" y="138888"/>
                  <a:pt x="99731" y="136217"/>
                </a:cubicBezTo>
                <a:lnTo>
                  <a:pt x="40076" y="111628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2" name="Text 20"/>
          <p:cNvSpPr/>
          <p:nvPr/>
        </p:nvSpPr>
        <p:spPr>
          <a:xfrm>
            <a:off x="6436980" y="2607499"/>
            <a:ext cx="917294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2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Educación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62938" y="2963730"/>
            <a:ext cx="5655164" cy="46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2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Tutores inteligentes, personalización del aprendizaje, contenido adaptativo en tiempo real, feedback automático al estudiante.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881259" y="3793746"/>
            <a:ext cx="5947274" cy="1182686"/>
          </a:xfrm>
          <a:custGeom>
            <a:avLst/>
            <a:gdLst/>
            <a:ahLst/>
            <a:cxnLst/>
            <a:rect l="l" t="t" r="r" b="b"/>
            <a:pathLst>
              <a:path w="5947274" h="1182686">
                <a:moveTo>
                  <a:pt x="0" y="0"/>
                </a:moveTo>
                <a:lnTo>
                  <a:pt x="5947274" y="0"/>
                </a:lnTo>
                <a:lnTo>
                  <a:pt x="5947274" y="1182686"/>
                </a:lnTo>
                <a:lnTo>
                  <a:pt x="0" y="118268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C4B7A6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89655" y="3993238"/>
            <a:ext cx="213738" cy="213738"/>
          </a:xfrm>
          <a:custGeom>
            <a:avLst/>
            <a:gdLst/>
            <a:ahLst/>
            <a:cxnLst/>
            <a:rect l="l" t="t" r="r" b="b"/>
            <a:pathLst>
              <a:path w="213738" h="213738">
                <a:moveTo>
                  <a:pt x="106869" y="45044"/>
                </a:moveTo>
                <a:lnTo>
                  <a:pt x="100607" y="36361"/>
                </a:lnTo>
                <a:cubicBezTo>
                  <a:pt x="90171" y="21917"/>
                  <a:pt x="73431" y="13359"/>
                  <a:pt x="55564" y="13359"/>
                </a:cubicBezTo>
                <a:cubicBezTo>
                  <a:pt x="24880" y="13359"/>
                  <a:pt x="0" y="38239"/>
                  <a:pt x="0" y="68922"/>
                </a:cubicBezTo>
                <a:lnTo>
                  <a:pt x="0" y="70008"/>
                </a:lnTo>
                <a:cubicBezTo>
                  <a:pt x="0" y="79860"/>
                  <a:pt x="2588" y="90046"/>
                  <a:pt x="6930" y="100190"/>
                </a:cubicBezTo>
                <a:lnTo>
                  <a:pt x="51180" y="100190"/>
                </a:lnTo>
                <a:cubicBezTo>
                  <a:pt x="52516" y="100190"/>
                  <a:pt x="53727" y="99397"/>
                  <a:pt x="54270" y="98144"/>
                </a:cubicBezTo>
                <a:lnTo>
                  <a:pt x="67545" y="66292"/>
                </a:lnTo>
                <a:cubicBezTo>
                  <a:pt x="69089" y="62619"/>
                  <a:pt x="72679" y="60197"/>
                  <a:pt x="76645" y="60114"/>
                </a:cubicBezTo>
                <a:cubicBezTo>
                  <a:pt x="80611" y="60030"/>
                  <a:pt x="84285" y="62368"/>
                  <a:pt x="85913" y="66000"/>
                </a:cubicBezTo>
                <a:lnTo>
                  <a:pt x="107328" y="113549"/>
                </a:lnTo>
                <a:lnTo>
                  <a:pt x="124611" y="78983"/>
                </a:lnTo>
                <a:cubicBezTo>
                  <a:pt x="126323" y="75602"/>
                  <a:pt x="129788" y="73431"/>
                  <a:pt x="133587" y="73431"/>
                </a:cubicBezTo>
                <a:cubicBezTo>
                  <a:pt x="137385" y="73431"/>
                  <a:pt x="140850" y="75560"/>
                  <a:pt x="142562" y="78983"/>
                </a:cubicBezTo>
                <a:lnTo>
                  <a:pt x="152247" y="98311"/>
                </a:lnTo>
                <a:cubicBezTo>
                  <a:pt x="152831" y="99438"/>
                  <a:pt x="153959" y="100148"/>
                  <a:pt x="155253" y="100148"/>
                </a:cubicBezTo>
                <a:lnTo>
                  <a:pt x="206850" y="100148"/>
                </a:lnTo>
                <a:cubicBezTo>
                  <a:pt x="211234" y="90004"/>
                  <a:pt x="213780" y="79818"/>
                  <a:pt x="213780" y="69966"/>
                </a:cubicBezTo>
                <a:lnTo>
                  <a:pt x="213780" y="68881"/>
                </a:lnTo>
                <a:cubicBezTo>
                  <a:pt x="213738" y="38239"/>
                  <a:pt x="188858" y="13359"/>
                  <a:pt x="158175" y="13359"/>
                </a:cubicBezTo>
                <a:cubicBezTo>
                  <a:pt x="140349" y="13359"/>
                  <a:pt x="123568" y="21917"/>
                  <a:pt x="113131" y="36361"/>
                </a:cubicBezTo>
                <a:lnTo>
                  <a:pt x="106869" y="45002"/>
                </a:lnTo>
                <a:close/>
                <a:moveTo>
                  <a:pt x="196038" y="120228"/>
                </a:moveTo>
                <a:lnTo>
                  <a:pt x="155211" y="120228"/>
                </a:lnTo>
                <a:cubicBezTo>
                  <a:pt x="146361" y="120228"/>
                  <a:pt x="138262" y="115218"/>
                  <a:pt x="134296" y="107287"/>
                </a:cubicBezTo>
                <a:lnTo>
                  <a:pt x="133587" y="105867"/>
                </a:lnTo>
                <a:lnTo>
                  <a:pt x="115845" y="141393"/>
                </a:lnTo>
                <a:cubicBezTo>
                  <a:pt x="114133" y="144858"/>
                  <a:pt x="110543" y="147029"/>
                  <a:pt x="106661" y="146945"/>
                </a:cubicBezTo>
                <a:cubicBezTo>
                  <a:pt x="102778" y="146862"/>
                  <a:pt x="99313" y="144566"/>
                  <a:pt x="97727" y="141059"/>
                </a:cubicBezTo>
                <a:lnTo>
                  <a:pt x="77146" y="95347"/>
                </a:lnTo>
                <a:lnTo>
                  <a:pt x="72763" y="105867"/>
                </a:lnTo>
                <a:cubicBezTo>
                  <a:pt x="69131" y="114592"/>
                  <a:pt x="60615" y="120270"/>
                  <a:pt x="51180" y="120270"/>
                </a:cubicBezTo>
                <a:lnTo>
                  <a:pt x="17700" y="120270"/>
                </a:lnTo>
                <a:cubicBezTo>
                  <a:pt x="37404" y="151078"/>
                  <a:pt x="69048" y="179423"/>
                  <a:pt x="88835" y="194535"/>
                </a:cubicBezTo>
                <a:cubicBezTo>
                  <a:pt x="94012" y="198460"/>
                  <a:pt x="100357" y="200422"/>
                  <a:pt x="106828" y="200422"/>
                </a:cubicBezTo>
                <a:cubicBezTo>
                  <a:pt x="113298" y="200422"/>
                  <a:pt x="119685" y="198501"/>
                  <a:pt x="124820" y="194535"/>
                </a:cubicBezTo>
                <a:cubicBezTo>
                  <a:pt x="144691" y="179382"/>
                  <a:pt x="176334" y="151036"/>
                  <a:pt x="196038" y="120228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6" name="Text 24"/>
          <p:cNvSpPr/>
          <p:nvPr/>
        </p:nvSpPr>
        <p:spPr>
          <a:xfrm>
            <a:off x="6436980" y="3975426"/>
            <a:ext cx="534346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2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Salud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62938" y="4331657"/>
            <a:ext cx="5655164" cy="46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2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Diagnóstico asistido por IA, predicción de riesgos, análisis de imágenes médicas, procesamiento local para mayor privacidad.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881259" y="5161673"/>
            <a:ext cx="5947274" cy="1182686"/>
          </a:xfrm>
          <a:custGeom>
            <a:avLst/>
            <a:gdLst/>
            <a:ahLst/>
            <a:cxnLst/>
            <a:rect l="l" t="t" r="r" b="b"/>
            <a:pathLst>
              <a:path w="5947274" h="1182686">
                <a:moveTo>
                  <a:pt x="0" y="0"/>
                </a:moveTo>
                <a:lnTo>
                  <a:pt x="5947274" y="0"/>
                </a:lnTo>
                <a:lnTo>
                  <a:pt x="5947274" y="1182686"/>
                </a:lnTo>
                <a:lnTo>
                  <a:pt x="0" y="118268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0160">
            <a:solidFill>
              <a:srgbClr val="8B8680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62938" y="5361165"/>
            <a:ext cx="267173" cy="213738"/>
          </a:xfrm>
          <a:custGeom>
            <a:avLst/>
            <a:gdLst/>
            <a:ahLst/>
            <a:cxnLst/>
            <a:rect l="l" t="t" r="r" b="b"/>
            <a:pathLst>
              <a:path w="267173" h="213738">
                <a:moveTo>
                  <a:pt x="187021" y="26717"/>
                </a:moveTo>
                <a:cubicBezTo>
                  <a:pt x="231272" y="26717"/>
                  <a:pt x="267173" y="62619"/>
                  <a:pt x="267173" y="106869"/>
                </a:cubicBezTo>
                <a:cubicBezTo>
                  <a:pt x="267173" y="151120"/>
                  <a:pt x="231272" y="187021"/>
                  <a:pt x="187021" y="187021"/>
                </a:cubicBezTo>
                <a:lnTo>
                  <a:pt x="80152" y="187021"/>
                </a:lnTo>
                <a:cubicBezTo>
                  <a:pt x="35901" y="187021"/>
                  <a:pt x="0" y="151120"/>
                  <a:pt x="0" y="106869"/>
                </a:cubicBezTo>
                <a:cubicBezTo>
                  <a:pt x="0" y="62619"/>
                  <a:pt x="35901" y="26717"/>
                  <a:pt x="80152" y="26717"/>
                </a:cubicBezTo>
                <a:lnTo>
                  <a:pt x="187021" y="26717"/>
                </a:lnTo>
                <a:close/>
                <a:moveTo>
                  <a:pt x="80152" y="73473"/>
                </a:moveTo>
                <a:cubicBezTo>
                  <a:pt x="74600" y="73473"/>
                  <a:pt x="70133" y="77939"/>
                  <a:pt x="70133" y="83492"/>
                </a:cubicBezTo>
                <a:lnTo>
                  <a:pt x="70133" y="96850"/>
                </a:lnTo>
                <a:lnTo>
                  <a:pt x="56774" y="96850"/>
                </a:lnTo>
                <a:cubicBezTo>
                  <a:pt x="51222" y="96850"/>
                  <a:pt x="46755" y="101317"/>
                  <a:pt x="46755" y="106869"/>
                </a:cubicBezTo>
                <a:cubicBezTo>
                  <a:pt x="46755" y="112421"/>
                  <a:pt x="51222" y="116888"/>
                  <a:pt x="56774" y="116888"/>
                </a:cubicBezTo>
                <a:lnTo>
                  <a:pt x="70133" y="116888"/>
                </a:lnTo>
                <a:lnTo>
                  <a:pt x="70133" y="130247"/>
                </a:lnTo>
                <a:cubicBezTo>
                  <a:pt x="70133" y="135799"/>
                  <a:pt x="74600" y="140266"/>
                  <a:pt x="80152" y="140266"/>
                </a:cubicBezTo>
                <a:cubicBezTo>
                  <a:pt x="85704" y="140266"/>
                  <a:pt x="90171" y="135799"/>
                  <a:pt x="90171" y="130247"/>
                </a:cubicBezTo>
                <a:lnTo>
                  <a:pt x="90171" y="116888"/>
                </a:lnTo>
                <a:lnTo>
                  <a:pt x="103530" y="116888"/>
                </a:lnTo>
                <a:cubicBezTo>
                  <a:pt x="109082" y="116888"/>
                  <a:pt x="113549" y="112421"/>
                  <a:pt x="113549" y="106869"/>
                </a:cubicBezTo>
                <a:cubicBezTo>
                  <a:pt x="113549" y="101317"/>
                  <a:pt x="109082" y="96850"/>
                  <a:pt x="103530" y="96850"/>
                </a:cubicBezTo>
                <a:lnTo>
                  <a:pt x="90171" y="96850"/>
                </a:lnTo>
                <a:lnTo>
                  <a:pt x="90171" y="83492"/>
                </a:lnTo>
                <a:cubicBezTo>
                  <a:pt x="90171" y="77939"/>
                  <a:pt x="85704" y="73473"/>
                  <a:pt x="80152" y="73473"/>
                </a:cubicBezTo>
                <a:close/>
                <a:moveTo>
                  <a:pt x="180342" y="113549"/>
                </a:moveTo>
                <a:cubicBezTo>
                  <a:pt x="172969" y="113549"/>
                  <a:pt x="166983" y="119534"/>
                  <a:pt x="166983" y="126907"/>
                </a:cubicBezTo>
                <a:cubicBezTo>
                  <a:pt x="166983" y="134280"/>
                  <a:pt x="172969" y="140266"/>
                  <a:pt x="180342" y="140266"/>
                </a:cubicBezTo>
                <a:cubicBezTo>
                  <a:pt x="187715" y="140266"/>
                  <a:pt x="193701" y="134280"/>
                  <a:pt x="193701" y="126907"/>
                </a:cubicBezTo>
                <a:cubicBezTo>
                  <a:pt x="193701" y="119534"/>
                  <a:pt x="187715" y="113549"/>
                  <a:pt x="180342" y="113549"/>
                </a:cubicBezTo>
                <a:close/>
                <a:moveTo>
                  <a:pt x="207059" y="73473"/>
                </a:moveTo>
                <a:cubicBezTo>
                  <a:pt x="199686" y="73473"/>
                  <a:pt x="193701" y="79458"/>
                  <a:pt x="193701" y="86831"/>
                </a:cubicBezTo>
                <a:cubicBezTo>
                  <a:pt x="193701" y="94204"/>
                  <a:pt x="199686" y="100190"/>
                  <a:pt x="207059" y="100190"/>
                </a:cubicBezTo>
                <a:cubicBezTo>
                  <a:pt x="214432" y="100190"/>
                  <a:pt x="220418" y="94204"/>
                  <a:pt x="220418" y="86831"/>
                </a:cubicBezTo>
                <a:cubicBezTo>
                  <a:pt x="220418" y="79458"/>
                  <a:pt x="214432" y="73473"/>
                  <a:pt x="207059" y="73473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0" name="Text 28"/>
          <p:cNvSpPr/>
          <p:nvPr/>
        </p:nvSpPr>
        <p:spPr>
          <a:xfrm>
            <a:off x="6436980" y="5343354"/>
            <a:ext cx="1353677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2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Entretenimiento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062938" y="5699584"/>
            <a:ext cx="5655164" cy="46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2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Recomendación de contenido, experiencias personalizadas, videojuegos adaptativos, realidad aumentada y filtros interactivos.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56231" y="6617545"/>
            <a:ext cx="11479538" cy="7125"/>
          </a:xfrm>
          <a:custGeom>
            <a:avLst/>
            <a:gdLst/>
            <a:ahLst/>
            <a:cxnLst/>
            <a:rect l="l" t="t" r="r" b="b"/>
            <a:pathLst>
              <a:path w="11479538" h="7125">
                <a:moveTo>
                  <a:pt x="0" y="0"/>
                </a:moveTo>
                <a:lnTo>
                  <a:pt x="11479538" y="0"/>
                </a:lnTo>
                <a:lnTo>
                  <a:pt x="11479538" y="7125"/>
                </a:lnTo>
                <a:lnTo>
                  <a:pt x="0" y="7125"/>
                </a:lnTo>
                <a:lnTo>
                  <a:pt x="0" y="0"/>
                </a:lnTo>
                <a:close/>
              </a:path>
            </a:pathLst>
          </a:custGeom>
          <a:solidFill>
            <a:srgbClr val="C4B7A6">
              <a:alpha val="3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14262" y="6619915"/>
            <a:ext cx="11550785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Tecnologías emergentes:</a:t>
            </a:r>
            <a:r>
              <a:rPr lang="en-US" sz="1122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WebAssembly para ejecución de IA en navegadores, PWAs inteligentes, experiencias inmersivas con AR/VR.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iro.medium.com/a6c87531ce96e9e6e1af81faf558c1f10c524312"/>
          <p:cNvPicPr>
            <a:picLocks noChangeAspect="1"/>
          </p:cNvPicPr>
          <p:nvPr/>
        </p:nvPicPr>
        <p:blipFill>
          <a:blip r:embed="rId3">
            <a:alphaModFix amt="5000"/>
          </a:blip>
          <a:srcRect l="26457" r="26457"/>
          <a:stretch/>
        </p:blipFill>
        <p:spPr>
          <a:xfrm>
            <a:off x="7315200" y="0"/>
            <a:ext cx="48768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381000" y="923925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4" name="Text 1"/>
          <p:cNvSpPr/>
          <p:nvPr/>
        </p:nvSpPr>
        <p:spPr>
          <a:xfrm>
            <a:off x="381000" y="1171575"/>
            <a:ext cx="521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315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1514475"/>
            <a:ext cx="53721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Futuro es la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Inteligente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8620" y="2962275"/>
            <a:ext cx="15240" cy="838200"/>
          </a:xfrm>
          <a:custGeom>
            <a:avLst/>
            <a:gdLst/>
            <a:ahLst/>
            <a:cxnLst/>
            <a:rect l="l" t="t" r="r" b="b"/>
            <a:pathLst>
              <a:path w="15240" h="838200">
                <a:moveTo>
                  <a:pt x="0" y="0"/>
                </a:moveTo>
                <a:lnTo>
                  <a:pt x="15240" y="0"/>
                </a:lnTo>
                <a:lnTo>
                  <a:pt x="1524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7" name="Text 4"/>
          <p:cNvSpPr/>
          <p:nvPr/>
        </p:nvSpPr>
        <p:spPr>
          <a:xfrm>
            <a:off x="624840" y="2962275"/>
            <a:ext cx="499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React: Base de Interfaces Modernas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24840" y="3305175"/>
            <a:ext cx="4972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Seguirá siendo el estándar para crear </a:t>
            </a:r>
            <a:r>
              <a:rPr lang="en-US" sz="1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interfaces digitales modernas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escalables e interactivas.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8620" y="4029075"/>
            <a:ext cx="15240" cy="838200"/>
          </a:xfrm>
          <a:custGeom>
            <a:avLst/>
            <a:gdLst/>
            <a:ahLst/>
            <a:cxnLst/>
            <a:rect l="l" t="t" r="r" b="b"/>
            <a:pathLst>
              <a:path w="15240" h="838200">
                <a:moveTo>
                  <a:pt x="0" y="0"/>
                </a:moveTo>
                <a:lnTo>
                  <a:pt x="15240" y="0"/>
                </a:lnTo>
                <a:lnTo>
                  <a:pt x="1524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0" name="Text 7"/>
          <p:cNvSpPr/>
          <p:nvPr/>
        </p:nvSpPr>
        <p:spPr>
          <a:xfrm>
            <a:off x="624840" y="4029075"/>
            <a:ext cx="499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TensorFlow: IA en Producción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24840" y="4371980"/>
            <a:ext cx="4972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Continuará impulsando la </a:t>
            </a:r>
            <a:r>
              <a:rPr lang="en-US" sz="1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inteligencia artificial en producción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real, de investigación a escala.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8620" y="5095880"/>
            <a:ext cx="15240" cy="838200"/>
          </a:xfrm>
          <a:custGeom>
            <a:avLst/>
            <a:gdLst/>
            <a:ahLst/>
            <a:cxnLst/>
            <a:rect l="l" t="t" r="r" b="b"/>
            <a:pathLst>
              <a:path w="15240" h="838200">
                <a:moveTo>
                  <a:pt x="0" y="0"/>
                </a:moveTo>
                <a:lnTo>
                  <a:pt x="15240" y="0"/>
                </a:lnTo>
                <a:lnTo>
                  <a:pt x="1524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3" name="Text 10"/>
          <p:cNvSpPr/>
          <p:nvPr/>
        </p:nvSpPr>
        <p:spPr>
          <a:xfrm>
            <a:off x="624840" y="5095880"/>
            <a:ext cx="499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+ TensorFlow.js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24840" y="5438780"/>
            <a:ext cx="4972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Representa el futuro de la </a:t>
            </a:r>
            <a:r>
              <a:rPr lang="en-US" sz="1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inteligente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donde la IA se integra directamente en la experiencia del usuario.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981700" y="1106807"/>
            <a:ext cx="5829300" cy="3429000"/>
          </a:xfrm>
          <a:custGeom>
            <a:avLst/>
            <a:gdLst/>
            <a:ahLst/>
            <a:cxnLst/>
            <a:rect l="l" t="t" r="r" b="b"/>
            <a:pathLst>
              <a:path w="5829300" h="3429000">
                <a:moveTo>
                  <a:pt x="0" y="0"/>
                </a:moveTo>
                <a:lnTo>
                  <a:pt x="5829300" y="0"/>
                </a:lnTo>
                <a:lnTo>
                  <a:pt x="58293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>
              <a:alpha val="5098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6229350" y="1411607"/>
            <a:ext cx="533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Ideas Clave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286500" y="198298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8" name="Text 15"/>
          <p:cNvSpPr/>
          <p:nvPr/>
        </p:nvSpPr>
        <p:spPr>
          <a:xfrm>
            <a:off x="6412230" y="2040136"/>
            <a:ext cx="123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743700" y="1944886"/>
            <a:ext cx="4838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 </a:t>
            </a:r>
            <a:r>
              <a:rPr lang="en-US" sz="1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IA no reemplaza al desarrollador web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sino que redefine su rol hacia diseño, arquitectura y estrategia.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286500" y="263068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086" y="2687836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743700" y="2592586"/>
            <a:ext cx="4838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 </a:t>
            </a:r>
            <a:r>
              <a:rPr lang="en-US" sz="1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IA en el navegador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permite aplicaciones más privadas, rápidas y escalables.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286500" y="327838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4" name="Text 21"/>
          <p:cNvSpPr/>
          <p:nvPr/>
        </p:nvSpPr>
        <p:spPr>
          <a:xfrm>
            <a:off x="6399490" y="3335536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743700" y="3240286"/>
            <a:ext cx="4838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Educación, salud y entretenimiento serán los sectores </a:t>
            </a:r>
            <a:r>
              <a:rPr lang="en-US" sz="1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más transformados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por esta combinación.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286500" y="392608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7" name="Text 24"/>
          <p:cNvSpPr/>
          <p:nvPr/>
        </p:nvSpPr>
        <p:spPr>
          <a:xfrm>
            <a:off x="6399609" y="3983236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743700" y="3887986"/>
            <a:ext cx="38195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futuro es una web </a:t>
            </a:r>
            <a:r>
              <a:rPr lang="en-US" sz="1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interactiva, inteligente y adaptativa</a:t>
            </a: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5981700" y="4771911"/>
            <a:ext cx="5829300" cy="15240"/>
          </a:xfrm>
          <a:custGeom>
            <a:avLst/>
            <a:gdLst/>
            <a:ahLst/>
            <a:cxnLst/>
            <a:rect l="l" t="t" r="r" b="b"/>
            <a:pathLst>
              <a:path w="5829300" h="15240">
                <a:moveTo>
                  <a:pt x="0" y="0"/>
                </a:moveTo>
                <a:lnTo>
                  <a:pt x="5829300" y="0"/>
                </a:lnTo>
                <a:lnTo>
                  <a:pt x="5829300" y="15240"/>
                </a:lnTo>
                <a:lnTo>
                  <a:pt x="0" y="1524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30" name="Text 27"/>
          <p:cNvSpPr/>
          <p:nvPr/>
        </p:nvSpPr>
        <p:spPr>
          <a:xfrm>
            <a:off x="5924550" y="5008127"/>
            <a:ext cx="59436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"La IA ya no es una característica adicional sino una infraestructura base de la web moderna."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58e7be13681709be8448754cb5facccb38ca2cd8.jpg"/>
          <p:cNvPicPr>
            <a:picLocks noChangeAspect="1"/>
          </p:cNvPicPr>
          <p:nvPr/>
        </p:nvPicPr>
        <p:blipFill>
          <a:blip r:embed="rId3">
            <a:alphaModFix amt="6000"/>
          </a:blip>
          <a:srcRect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5638681" y="1175147"/>
            <a:ext cx="914400" cy="19050"/>
          </a:xfrm>
          <a:custGeom>
            <a:avLst/>
            <a:gdLst/>
            <a:ahLst/>
            <a:cxnLst/>
            <a:rect l="l" t="t" r="r" b="b"/>
            <a:pathLst>
              <a:path w="914400" h="19050">
                <a:moveTo>
                  <a:pt x="0" y="0"/>
                </a:moveTo>
                <a:lnTo>
                  <a:pt x="914400" y="0"/>
                </a:lnTo>
                <a:lnTo>
                  <a:pt x="9144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4" name="Text 1"/>
          <p:cNvSpPr/>
          <p:nvPr/>
        </p:nvSpPr>
        <p:spPr>
          <a:xfrm>
            <a:off x="4785003" y="1575197"/>
            <a:ext cx="2619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Gracias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281" y="2565797"/>
            <a:ext cx="1219200" cy="9525"/>
          </a:xfrm>
          <a:custGeom>
            <a:avLst/>
            <a:gdLst/>
            <a:ahLst/>
            <a:cxnLst/>
            <a:rect l="l" t="t" r="r" b="b"/>
            <a:pathLst>
              <a:path w="1219200" h="9525">
                <a:moveTo>
                  <a:pt x="0" y="0"/>
                </a:moveTo>
                <a:lnTo>
                  <a:pt x="1219200" y="0"/>
                </a:lnTo>
                <a:lnTo>
                  <a:pt x="12192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6" name="Text 3"/>
          <p:cNvSpPr/>
          <p:nvPr/>
        </p:nvSpPr>
        <p:spPr>
          <a:xfrm>
            <a:off x="4694158" y="3413522"/>
            <a:ext cx="2800350" cy="1390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 IA en el navegador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22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es el futuro.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225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 el presente.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564969" y="543520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6720" y="79117"/>
                </a:moveTo>
                <a:cubicBezTo>
                  <a:pt x="184309" y="78313"/>
                  <a:pt x="181898" y="77554"/>
                  <a:pt x="179487" y="76840"/>
                </a:cubicBezTo>
                <a:cubicBezTo>
                  <a:pt x="179889" y="75188"/>
                  <a:pt x="180246" y="73536"/>
                  <a:pt x="180603" y="71884"/>
                </a:cubicBezTo>
                <a:cubicBezTo>
                  <a:pt x="186095" y="45274"/>
                  <a:pt x="182478" y="23887"/>
                  <a:pt x="170289" y="16832"/>
                </a:cubicBezTo>
                <a:cubicBezTo>
                  <a:pt x="158547" y="10091"/>
                  <a:pt x="139392" y="17100"/>
                  <a:pt x="120015" y="33977"/>
                </a:cubicBezTo>
                <a:cubicBezTo>
                  <a:pt x="118095" y="35629"/>
                  <a:pt x="116220" y="37371"/>
                  <a:pt x="114434" y="39112"/>
                </a:cubicBezTo>
                <a:cubicBezTo>
                  <a:pt x="113228" y="37951"/>
                  <a:pt x="111978" y="36790"/>
                  <a:pt x="110728" y="35674"/>
                </a:cubicBezTo>
                <a:cubicBezTo>
                  <a:pt x="90413" y="17636"/>
                  <a:pt x="70053" y="10046"/>
                  <a:pt x="57864" y="17145"/>
                </a:cubicBezTo>
                <a:cubicBezTo>
                  <a:pt x="46166" y="23932"/>
                  <a:pt x="42684" y="44068"/>
                  <a:pt x="47595" y="69250"/>
                </a:cubicBezTo>
                <a:cubicBezTo>
                  <a:pt x="48086" y="71750"/>
                  <a:pt x="48622" y="74206"/>
                  <a:pt x="49247" y="76706"/>
                </a:cubicBezTo>
                <a:cubicBezTo>
                  <a:pt x="46390" y="77510"/>
                  <a:pt x="43577" y="78403"/>
                  <a:pt x="40943" y="79340"/>
                </a:cubicBezTo>
                <a:cubicBezTo>
                  <a:pt x="17100" y="87600"/>
                  <a:pt x="0" y="100638"/>
                  <a:pt x="0" y="114121"/>
                </a:cubicBezTo>
                <a:cubicBezTo>
                  <a:pt x="0" y="128052"/>
                  <a:pt x="18217" y="142027"/>
                  <a:pt x="42996" y="150510"/>
                </a:cubicBezTo>
                <a:cubicBezTo>
                  <a:pt x="45006" y="151180"/>
                  <a:pt x="47015" y="151849"/>
                  <a:pt x="49069" y="152430"/>
                </a:cubicBezTo>
                <a:cubicBezTo>
                  <a:pt x="48399" y="155109"/>
                  <a:pt x="47818" y="157743"/>
                  <a:pt x="47283" y="160466"/>
                </a:cubicBezTo>
                <a:cubicBezTo>
                  <a:pt x="42595" y="185246"/>
                  <a:pt x="46256" y="204892"/>
                  <a:pt x="57954" y="211634"/>
                </a:cubicBezTo>
                <a:cubicBezTo>
                  <a:pt x="70009" y="218599"/>
                  <a:pt x="90279" y="211455"/>
                  <a:pt x="110014" y="194176"/>
                </a:cubicBezTo>
                <a:cubicBezTo>
                  <a:pt x="111576" y="192792"/>
                  <a:pt x="113139" y="191363"/>
                  <a:pt x="114702" y="189845"/>
                </a:cubicBezTo>
                <a:cubicBezTo>
                  <a:pt x="116666" y="191765"/>
                  <a:pt x="118720" y="193596"/>
                  <a:pt x="120774" y="195382"/>
                </a:cubicBezTo>
                <a:cubicBezTo>
                  <a:pt x="139884" y="211812"/>
                  <a:pt x="158770" y="218465"/>
                  <a:pt x="170423" y="211723"/>
                </a:cubicBezTo>
                <a:cubicBezTo>
                  <a:pt x="182478" y="204758"/>
                  <a:pt x="186407" y="183639"/>
                  <a:pt x="181317" y="157922"/>
                </a:cubicBezTo>
                <a:cubicBezTo>
                  <a:pt x="180915" y="155957"/>
                  <a:pt x="180469" y="153948"/>
                  <a:pt x="179978" y="151894"/>
                </a:cubicBezTo>
                <a:cubicBezTo>
                  <a:pt x="181407" y="151492"/>
                  <a:pt x="182791" y="151046"/>
                  <a:pt x="184175" y="150599"/>
                </a:cubicBezTo>
                <a:cubicBezTo>
                  <a:pt x="209937" y="142071"/>
                  <a:pt x="228600" y="128275"/>
                  <a:pt x="228600" y="114121"/>
                </a:cubicBezTo>
                <a:cubicBezTo>
                  <a:pt x="228600" y="100593"/>
                  <a:pt x="211009" y="87466"/>
                  <a:pt x="186720" y="79117"/>
                </a:cubicBezTo>
                <a:close/>
                <a:moveTo>
                  <a:pt x="126310" y="41211"/>
                </a:moveTo>
                <a:cubicBezTo>
                  <a:pt x="142920" y="26744"/>
                  <a:pt x="158413" y="21074"/>
                  <a:pt x="165467" y="25137"/>
                </a:cubicBezTo>
                <a:cubicBezTo>
                  <a:pt x="173013" y="29468"/>
                  <a:pt x="175915" y="46970"/>
                  <a:pt x="171182" y="69964"/>
                </a:cubicBezTo>
                <a:cubicBezTo>
                  <a:pt x="170870" y="71482"/>
                  <a:pt x="170557" y="72956"/>
                  <a:pt x="170155" y="74429"/>
                </a:cubicBezTo>
                <a:cubicBezTo>
                  <a:pt x="160243" y="72197"/>
                  <a:pt x="150197" y="70589"/>
                  <a:pt x="140107" y="69696"/>
                </a:cubicBezTo>
                <a:cubicBezTo>
                  <a:pt x="134302" y="61392"/>
                  <a:pt x="127962" y="53444"/>
                  <a:pt x="121087" y="45988"/>
                </a:cubicBezTo>
                <a:cubicBezTo>
                  <a:pt x="122828" y="44336"/>
                  <a:pt x="124524" y="42773"/>
                  <a:pt x="126310" y="41211"/>
                </a:cubicBezTo>
                <a:close/>
                <a:moveTo>
                  <a:pt x="74652" y="137294"/>
                </a:moveTo>
                <a:cubicBezTo>
                  <a:pt x="76929" y="141178"/>
                  <a:pt x="79251" y="145063"/>
                  <a:pt x="81707" y="148858"/>
                </a:cubicBezTo>
                <a:cubicBezTo>
                  <a:pt x="74741" y="148099"/>
                  <a:pt x="67821" y="146983"/>
                  <a:pt x="60990" y="145509"/>
                </a:cubicBezTo>
                <a:cubicBezTo>
                  <a:pt x="62954" y="139080"/>
                  <a:pt x="65410" y="132427"/>
                  <a:pt x="68267" y="125641"/>
                </a:cubicBezTo>
                <a:cubicBezTo>
                  <a:pt x="70321" y="129570"/>
                  <a:pt x="72420" y="133454"/>
                  <a:pt x="74652" y="137294"/>
                </a:cubicBezTo>
                <a:close/>
                <a:moveTo>
                  <a:pt x="61124" y="83582"/>
                </a:moveTo>
                <a:cubicBezTo>
                  <a:pt x="67553" y="82153"/>
                  <a:pt x="74384" y="80992"/>
                  <a:pt x="81483" y="80099"/>
                </a:cubicBezTo>
                <a:cubicBezTo>
                  <a:pt x="79117" y="83805"/>
                  <a:pt x="76795" y="87600"/>
                  <a:pt x="74608" y="91440"/>
                </a:cubicBezTo>
                <a:cubicBezTo>
                  <a:pt x="72420" y="95235"/>
                  <a:pt x="70277" y="99120"/>
                  <a:pt x="68267" y="103049"/>
                </a:cubicBezTo>
                <a:cubicBezTo>
                  <a:pt x="65455" y="96396"/>
                  <a:pt x="63088" y="89877"/>
                  <a:pt x="61124" y="83582"/>
                </a:cubicBezTo>
                <a:close/>
                <a:moveTo>
                  <a:pt x="73357" y="114345"/>
                </a:moveTo>
                <a:cubicBezTo>
                  <a:pt x="76304" y="108183"/>
                  <a:pt x="79519" y="102156"/>
                  <a:pt x="82912" y="96217"/>
                </a:cubicBezTo>
                <a:cubicBezTo>
                  <a:pt x="86305" y="90279"/>
                  <a:pt x="89967" y="84519"/>
                  <a:pt x="93806" y="78849"/>
                </a:cubicBezTo>
                <a:cubicBezTo>
                  <a:pt x="100504" y="78358"/>
                  <a:pt x="107335" y="78090"/>
                  <a:pt x="114300" y="78090"/>
                </a:cubicBezTo>
                <a:cubicBezTo>
                  <a:pt x="121265" y="78090"/>
                  <a:pt x="128141" y="78358"/>
                  <a:pt x="134794" y="78849"/>
                </a:cubicBezTo>
                <a:cubicBezTo>
                  <a:pt x="138589" y="84475"/>
                  <a:pt x="142205" y="90234"/>
                  <a:pt x="145643" y="96128"/>
                </a:cubicBezTo>
                <a:cubicBezTo>
                  <a:pt x="149081" y="102022"/>
                  <a:pt x="152296" y="108049"/>
                  <a:pt x="155332" y="114166"/>
                </a:cubicBezTo>
                <a:cubicBezTo>
                  <a:pt x="152340" y="120328"/>
                  <a:pt x="149126" y="126400"/>
                  <a:pt x="145688" y="132383"/>
                </a:cubicBezTo>
                <a:cubicBezTo>
                  <a:pt x="142295" y="138321"/>
                  <a:pt x="138678" y="144081"/>
                  <a:pt x="134883" y="149796"/>
                </a:cubicBezTo>
                <a:cubicBezTo>
                  <a:pt x="128230" y="150287"/>
                  <a:pt x="121310" y="150510"/>
                  <a:pt x="114300" y="150510"/>
                </a:cubicBezTo>
                <a:cubicBezTo>
                  <a:pt x="107290" y="150510"/>
                  <a:pt x="100504" y="150287"/>
                  <a:pt x="93940" y="149885"/>
                </a:cubicBezTo>
                <a:cubicBezTo>
                  <a:pt x="90056" y="144214"/>
                  <a:pt x="86395" y="138410"/>
                  <a:pt x="82957" y="132472"/>
                </a:cubicBezTo>
                <a:cubicBezTo>
                  <a:pt x="79519" y="126534"/>
                  <a:pt x="76349" y="120506"/>
                  <a:pt x="73357" y="114345"/>
                </a:cubicBezTo>
                <a:close/>
                <a:moveTo>
                  <a:pt x="153992" y="137205"/>
                </a:moveTo>
                <a:cubicBezTo>
                  <a:pt x="156270" y="133276"/>
                  <a:pt x="158413" y="129302"/>
                  <a:pt x="160511" y="125284"/>
                </a:cubicBezTo>
                <a:cubicBezTo>
                  <a:pt x="163369" y="131758"/>
                  <a:pt x="165869" y="138321"/>
                  <a:pt x="168057" y="145063"/>
                </a:cubicBezTo>
                <a:cubicBezTo>
                  <a:pt x="161136" y="146625"/>
                  <a:pt x="154126" y="147831"/>
                  <a:pt x="147072" y="148635"/>
                </a:cubicBezTo>
                <a:cubicBezTo>
                  <a:pt x="149483" y="144884"/>
                  <a:pt x="151760" y="141044"/>
                  <a:pt x="153992" y="137205"/>
                </a:cubicBezTo>
                <a:close/>
                <a:moveTo>
                  <a:pt x="160422" y="103049"/>
                </a:moveTo>
                <a:cubicBezTo>
                  <a:pt x="158323" y="99120"/>
                  <a:pt x="156180" y="95190"/>
                  <a:pt x="153948" y="91351"/>
                </a:cubicBezTo>
                <a:cubicBezTo>
                  <a:pt x="151760" y="87556"/>
                  <a:pt x="149483" y="83805"/>
                  <a:pt x="147117" y="80099"/>
                </a:cubicBezTo>
                <a:cubicBezTo>
                  <a:pt x="154305" y="80992"/>
                  <a:pt x="161181" y="82198"/>
                  <a:pt x="167610" y="83671"/>
                </a:cubicBezTo>
                <a:cubicBezTo>
                  <a:pt x="165556" y="90279"/>
                  <a:pt x="163145" y="96709"/>
                  <a:pt x="160422" y="103049"/>
                </a:cubicBezTo>
                <a:close/>
                <a:moveTo>
                  <a:pt x="114389" y="52819"/>
                </a:moveTo>
                <a:cubicBezTo>
                  <a:pt x="119077" y="57909"/>
                  <a:pt x="123498" y="63267"/>
                  <a:pt x="127605" y="68803"/>
                </a:cubicBezTo>
                <a:cubicBezTo>
                  <a:pt x="118765" y="68401"/>
                  <a:pt x="109880" y="68401"/>
                  <a:pt x="101039" y="68803"/>
                </a:cubicBezTo>
                <a:cubicBezTo>
                  <a:pt x="105415" y="63044"/>
                  <a:pt x="109924" y="57686"/>
                  <a:pt x="114389" y="52819"/>
                </a:cubicBezTo>
                <a:close/>
                <a:moveTo>
                  <a:pt x="62597" y="25450"/>
                </a:moveTo>
                <a:cubicBezTo>
                  <a:pt x="70098" y="21074"/>
                  <a:pt x="86752" y="27325"/>
                  <a:pt x="104299" y="42863"/>
                </a:cubicBezTo>
                <a:cubicBezTo>
                  <a:pt x="105415" y="43845"/>
                  <a:pt x="106531" y="44916"/>
                  <a:pt x="107692" y="45988"/>
                </a:cubicBezTo>
                <a:cubicBezTo>
                  <a:pt x="100772" y="53444"/>
                  <a:pt x="94387" y="61392"/>
                  <a:pt x="88538" y="69696"/>
                </a:cubicBezTo>
                <a:cubicBezTo>
                  <a:pt x="78447" y="70589"/>
                  <a:pt x="68446" y="72152"/>
                  <a:pt x="58534" y="74340"/>
                </a:cubicBezTo>
                <a:cubicBezTo>
                  <a:pt x="57954" y="72063"/>
                  <a:pt x="57463" y="69741"/>
                  <a:pt x="56971" y="67419"/>
                </a:cubicBezTo>
                <a:cubicBezTo>
                  <a:pt x="52774" y="45809"/>
                  <a:pt x="55543" y="29513"/>
                  <a:pt x="62597" y="25450"/>
                </a:cubicBezTo>
                <a:close/>
                <a:moveTo>
                  <a:pt x="51658" y="143143"/>
                </a:moveTo>
                <a:cubicBezTo>
                  <a:pt x="49783" y="142607"/>
                  <a:pt x="47952" y="142027"/>
                  <a:pt x="46122" y="141402"/>
                </a:cubicBezTo>
                <a:cubicBezTo>
                  <a:pt x="36612" y="138410"/>
                  <a:pt x="25807" y="133677"/>
                  <a:pt x="17993" y="127471"/>
                </a:cubicBezTo>
                <a:cubicBezTo>
                  <a:pt x="13484" y="124346"/>
                  <a:pt x="10448" y="119524"/>
                  <a:pt x="9599" y="114121"/>
                </a:cubicBezTo>
                <a:cubicBezTo>
                  <a:pt x="9599" y="105951"/>
                  <a:pt x="23708" y="95503"/>
                  <a:pt x="44068" y="88404"/>
                </a:cubicBezTo>
                <a:cubicBezTo>
                  <a:pt x="46613" y="87511"/>
                  <a:pt x="49203" y="86707"/>
                  <a:pt x="51792" y="85948"/>
                </a:cubicBezTo>
                <a:cubicBezTo>
                  <a:pt x="54828" y="95637"/>
                  <a:pt x="58489" y="105147"/>
                  <a:pt x="62731" y="114345"/>
                </a:cubicBezTo>
                <a:cubicBezTo>
                  <a:pt x="58445" y="123676"/>
                  <a:pt x="54739" y="133320"/>
                  <a:pt x="51658" y="143143"/>
                </a:cubicBezTo>
                <a:close/>
                <a:moveTo>
                  <a:pt x="103718" y="186898"/>
                </a:moveTo>
                <a:cubicBezTo>
                  <a:pt x="96351" y="193640"/>
                  <a:pt x="87823" y="198998"/>
                  <a:pt x="78537" y="202659"/>
                </a:cubicBezTo>
                <a:cubicBezTo>
                  <a:pt x="73581" y="205026"/>
                  <a:pt x="67866" y="205249"/>
                  <a:pt x="62776" y="203240"/>
                </a:cubicBezTo>
                <a:cubicBezTo>
                  <a:pt x="55677" y="199132"/>
                  <a:pt x="52730" y="183371"/>
                  <a:pt x="56748" y="162163"/>
                </a:cubicBezTo>
                <a:cubicBezTo>
                  <a:pt x="57239" y="159663"/>
                  <a:pt x="57775" y="157163"/>
                  <a:pt x="58400" y="154707"/>
                </a:cubicBezTo>
                <a:cubicBezTo>
                  <a:pt x="68401" y="156850"/>
                  <a:pt x="78492" y="158323"/>
                  <a:pt x="88716" y="159082"/>
                </a:cubicBezTo>
                <a:cubicBezTo>
                  <a:pt x="94610" y="167432"/>
                  <a:pt x="101084" y="175424"/>
                  <a:pt x="108005" y="182925"/>
                </a:cubicBezTo>
                <a:cubicBezTo>
                  <a:pt x="106576" y="184309"/>
                  <a:pt x="105147" y="185648"/>
                  <a:pt x="103718" y="186898"/>
                </a:cubicBezTo>
                <a:close/>
                <a:moveTo>
                  <a:pt x="114657" y="176049"/>
                </a:moveTo>
                <a:cubicBezTo>
                  <a:pt x="110103" y="171137"/>
                  <a:pt x="105549" y="165690"/>
                  <a:pt x="101129" y="159841"/>
                </a:cubicBezTo>
                <a:cubicBezTo>
                  <a:pt x="105415" y="160020"/>
                  <a:pt x="109835" y="160109"/>
                  <a:pt x="114300" y="160109"/>
                </a:cubicBezTo>
                <a:cubicBezTo>
                  <a:pt x="118899" y="160109"/>
                  <a:pt x="123408" y="160020"/>
                  <a:pt x="127873" y="159797"/>
                </a:cubicBezTo>
                <a:cubicBezTo>
                  <a:pt x="123765" y="165467"/>
                  <a:pt x="119345" y="170870"/>
                  <a:pt x="114657" y="176049"/>
                </a:cubicBezTo>
                <a:close/>
                <a:moveTo>
                  <a:pt x="173013" y="189443"/>
                </a:moveTo>
                <a:cubicBezTo>
                  <a:pt x="172611" y="194890"/>
                  <a:pt x="169932" y="199980"/>
                  <a:pt x="165646" y="203418"/>
                </a:cubicBezTo>
                <a:cubicBezTo>
                  <a:pt x="158547" y="207526"/>
                  <a:pt x="143411" y="202168"/>
                  <a:pt x="127069" y="188149"/>
                </a:cubicBezTo>
                <a:cubicBezTo>
                  <a:pt x="125194" y="186541"/>
                  <a:pt x="123319" y="184800"/>
                  <a:pt x="121399" y="183014"/>
                </a:cubicBezTo>
                <a:cubicBezTo>
                  <a:pt x="128230" y="175468"/>
                  <a:pt x="134526" y="167476"/>
                  <a:pt x="140241" y="159082"/>
                </a:cubicBezTo>
                <a:cubicBezTo>
                  <a:pt x="150465" y="158234"/>
                  <a:pt x="160645" y="156671"/>
                  <a:pt x="170691" y="154394"/>
                </a:cubicBezTo>
                <a:cubicBezTo>
                  <a:pt x="171137" y="156225"/>
                  <a:pt x="171539" y="158055"/>
                  <a:pt x="171896" y="159841"/>
                </a:cubicBezTo>
                <a:cubicBezTo>
                  <a:pt x="174084" y="169485"/>
                  <a:pt x="174441" y="179531"/>
                  <a:pt x="173013" y="189443"/>
                </a:cubicBezTo>
                <a:close/>
                <a:moveTo>
                  <a:pt x="181139" y="141446"/>
                </a:moveTo>
                <a:cubicBezTo>
                  <a:pt x="179889" y="141848"/>
                  <a:pt x="178638" y="142250"/>
                  <a:pt x="177344" y="142607"/>
                </a:cubicBezTo>
                <a:cubicBezTo>
                  <a:pt x="174218" y="132874"/>
                  <a:pt x="170378" y="123364"/>
                  <a:pt x="165958" y="114121"/>
                </a:cubicBezTo>
                <a:cubicBezTo>
                  <a:pt x="170244" y="105013"/>
                  <a:pt x="173861" y="95637"/>
                  <a:pt x="176897" y="86038"/>
                </a:cubicBezTo>
                <a:cubicBezTo>
                  <a:pt x="179219" y="86707"/>
                  <a:pt x="181451" y="87422"/>
                  <a:pt x="183594" y="88136"/>
                </a:cubicBezTo>
                <a:cubicBezTo>
                  <a:pt x="204401" y="95280"/>
                  <a:pt x="219001" y="105906"/>
                  <a:pt x="219001" y="114032"/>
                </a:cubicBezTo>
                <a:cubicBezTo>
                  <a:pt x="219001" y="122783"/>
                  <a:pt x="203418" y="134079"/>
                  <a:pt x="181139" y="141446"/>
                </a:cubicBezTo>
                <a:close/>
                <a:moveTo>
                  <a:pt x="114300" y="134749"/>
                </a:moveTo>
                <a:cubicBezTo>
                  <a:pt x="125586" y="134749"/>
                  <a:pt x="134749" y="125586"/>
                  <a:pt x="134749" y="114300"/>
                </a:cubicBezTo>
                <a:cubicBezTo>
                  <a:pt x="134749" y="103014"/>
                  <a:pt x="125586" y="93851"/>
                  <a:pt x="114300" y="93851"/>
                </a:cubicBezTo>
                <a:cubicBezTo>
                  <a:pt x="103014" y="93851"/>
                  <a:pt x="93851" y="103014"/>
                  <a:pt x="93851" y="114300"/>
                </a:cubicBezTo>
                <a:cubicBezTo>
                  <a:pt x="93851" y="125586"/>
                  <a:pt x="103014" y="134749"/>
                  <a:pt x="114300" y="134749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8" name="Text 5"/>
          <p:cNvSpPr/>
          <p:nvPr/>
        </p:nvSpPr>
        <p:spPr>
          <a:xfrm>
            <a:off x="3893582" y="5416153"/>
            <a:ext cx="523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675704" y="5435203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0" name="Shape 7"/>
          <p:cNvSpPr/>
          <p:nvPr/>
        </p:nvSpPr>
        <p:spPr>
          <a:xfrm>
            <a:off x="5018604" y="543520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1" name="Text 8"/>
          <p:cNvSpPr/>
          <p:nvPr/>
        </p:nvSpPr>
        <p:spPr>
          <a:xfrm>
            <a:off x="5347216" y="5416153"/>
            <a:ext cx="1133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TensorFlow.js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743700" y="5435203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3" name="Shape 10"/>
          <p:cNvSpPr/>
          <p:nvPr/>
        </p:nvSpPr>
        <p:spPr>
          <a:xfrm>
            <a:off x="7086600" y="543520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7118" y="125016"/>
                </a:moveTo>
                <a:lnTo>
                  <a:pt x="71884" y="125016"/>
                </a:lnTo>
                <a:cubicBezTo>
                  <a:pt x="73179" y="153814"/>
                  <a:pt x="79564" y="180335"/>
                  <a:pt x="88627" y="199757"/>
                </a:cubicBezTo>
                <a:cubicBezTo>
                  <a:pt x="93717" y="210696"/>
                  <a:pt x="99209" y="218420"/>
                  <a:pt x="104299" y="223153"/>
                </a:cubicBezTo>
                <a:cubicBezTo>
                  <a:pt x="109299" y="227841"/>
                  <a:pt x="112737" y="228600"/>
                  <a:pt x="114523" y="228600"/>
                </a:cubicBezTo>
                <a:cubicBezTo>
                  <a:pt x="116309" y="228600"/>
                  <a:pt x="119747" y="227841"/>
                  <a:pt x="124748" y="223153"/>
                </a:cubicBezTo>
                <a:cubicBezTo>
                  <a:pt x="129838" y="218420"/>
                  <a:pt x="135329" y="210651"/>
                  <a:pt x="140419" y="199757"/>
                </a:cubicBezTo>
                <a:cubicBezTo>
                  <a:pt x="149483" y="180335"/>
                  <a:pt x="155868" y="153814"/>
                  <a:pt x="157162" y="125016"/>
                </a:cubicBezTo>
                <a:close/>
                <a:moveTo>
                  <a:pt x="71839" y="103584"/>
                </a:moveTo>
                <a:lnTo>
                  <a:pt x="157073" y="103584"/>
                </a:lnTo>
                <a:cubicBezTo>
                  <a:pt x="155823" y="74786"/>
                  <a:pt x="149438" y="48265"/>
                  <a:pt x="140375" y="28843"/>
                </a:cubicBezTo>
                <a:cubicBezTo>
                  <a:pt x="135285" y="17949"/>
                  <a:pt x="129793" y="10180"/>
                  <a:pt x="124703" y="5447"/>
                </a:cubicBezTo>
                <a:cubicBezTo>
                  <a:pt x="119702" y="759"/>
                  <a:pt x="116265" y="0"/>
                  <a:pt x="114479" y="0"/>
                </a:cubicBezTo>
                <a:cubicBezTo>
                  <a:pt x="112693" y="0"/>
                  <a:pt x="109255" y="759"/>
                  <a:pt x="104254" y="5447"/>
                </a:cubicBezTo>
                <a:cubicBezTo>
                  <a:pt x="99164" y="10180"/>
                  <a:pt x="93672" y="17949"/>
                  <a:pt x="88582" y="28843"/>
                </a:cubicBezTo>
                <a:cubicBezTo>
                  <a:pt x="79519" y="48265"/>
                  <a:pt x="73134" y="74786"/>
                  <a:pt x="71839" y="103584"/>
                </a:cubicBezTo>
                <a:close/>
                <a:moveTo>
                  <a:pt x="50408" y="103584"/>
                </a:moveTo>
                <a:cubicBezTo>
                  <a:pt x="51971" y="65365"/>
                  <a:pt x="61838" y="29870"/>
                  <a:pt x="76260" y="6563"/>
                </a:cubicBezTo>
                <a:cubicBezTo>
                  <a:pt x="35138" y="21119"/>
                  <a:pt x="4867" y="58579"/>
                  <a:pt x="670" y="103584"/>
                </a:cubicBezTo>
                <a:lnTo>
                  <a:pt x="50408" y="103584"/>
                </a:lnTo>
                <a:close/>
                <a:moveTo>
                  <a:pt x="670" y="125016"/>
                </a:moveTo>
                <a:cubicBezTo>
                  <a:pt x="4867" y="170021"/>
                  <a:pt x="35138" y="207481"/>
                  <a:pt x="76260" y="222037"/>
                </a:cubicBezTo>
                <a:cubicBezTo>
                  <a:pt x="61838" y="198730"/>
                  <a:pt x="51971" y="163235"/>
                  <a:pt x="50408" y="125016"/>
                </a:cubicBezTo>
                <a:lnTo>
                  <a:pt x="670" y="125016"/>
                </a:lnTo>
                <a:close/>
                <a:moveTo>
                  <a:pt x="178549" y="125016"/>
                </a:moveTo>
                <a:cubicBezTo>
                  <a:pt x="176986" y="163235"/>
                  <a:pt x="167119" y="198730"/>
                  <a:pt x="152698" y="222037"/>
                </a:cubicBezTo>
                <a:cubicBezTo>
                  <a:pt x="193819" y="207437"/>
                  <a:pt x="224091" y="170021"/>
                  <a:pt x="228287" y="125016"/>
                </a:cubicBezTo>
                <a:lnTo>
                  <a:pt x="178549" y="125016"/>
                </a:lnTo>
                <a:close/>
                <a:moveTo>
                  <a:pt x="228287" y="103584"/>
                </a:moveTo>
                <a:cubicBezTo>
                  <a:pt x="224091" y="58579"/>
                  <a:pt x="193819" y="21119"/>
                  <a:pt x="152698" y="6563"/>
                </a:cubicBezTo>
                <a:cubicBezTo>
                  <a:pt x="167119" y="29870"/>
                  <a:pt x="176986" y="65365"/>
                  <a:pt x="178549" y="103584"/>
                </a:cubicBezTo>
                <a:lnTo>
                  <a:pt x="228287" y="103584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4" name="Text 11"/>
          <p:cNvSpPr/>
          <p:nvPr/>
        </p:nvSpPr>
        <p:spPr>
          <a:xfrm>
            <a:off x="7415213" y="5416153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Inteligente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1562</Words>
  <Application>Microsoft Office PowerPoint</Application>
  <PresentationFormat>Panorámica</PresentationFormat>
  <Paragraphs>270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Liter</vt:lpstr>
      <vt:lpstr>Calibri</vt:lpstr>
      <vt:lpstr>Arial</vt:lpstr>
      <vt:lpstr>Custom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Inteligencia Artificial en la Web con React y TensorFlow.js</dc:title>
  <dc:subject>Inteligencia Artificial en la Web con React y TensorFlow.js</dc:subject>
  <dc:creator>Kimi</dc:creator>
  <cp:lastModifiedBy>heily ajila</cp:lastModifiedBy>
  <cp:revision>2</cp:revision>
  <dcterms:created xsi:type="dcterms:W3CDTF">2026-01-31T04:25:24Z</dcterms:created>
  <dcterms:modified xsi:type="dcterms:W3CDTF">2026-02-05T00:19:37Z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{"Label":"Inteligencia Artificial en la Web con React y TensorFlow.js","ContentProducer":"001191110108MACG2KBH8F10000","ProduceID":"19c123a9-6c92-8891-8000-0000a3aa7ff5","ReservedCode1":"","ContentPropagator":"001191110108MACG2KBH8F20000","PropagateID":"19c123a9-6c92-8891-8000-0000a3aa7ff5","ReservedCode2":""}</vt:lpwstr>
  </property>
</Properties>
</file>